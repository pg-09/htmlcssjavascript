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66" r:id="rId2"/>
    <p:sldId id="269" r:id="rId3"/>
    <p:sldId id="273" r:id="rId4"/>
    <p:sldId id="268" r:id="rId5"/>
    <p:sldId id="274" r:id="rId6"/>
    <p:sldId id="271" r:id="rId7"/>
    <p:sldId id="270" r:id="rId8"/>
    <p:sldId id="275" r:id="rId9"/>
    <p:sldId id="267" r:id="rId10"/>
    <p:sldId id="272" r:id="rId11"/>
    <p:sldId id="264" r:id="rId12"/>
    <p:sldId id="276" r:id="rId13"/>
    <p:sldId id="278" r:id="rId14"/>
    <p:sldId id="277" r:id="rId15"/>
    <p:sldId id="283" r:id="rId16"/>
    <p:sldId id="280" r:id="rId17"/>
    <p:sldId id="284" r:id="rId18"/>
    <p:sldId id="279" r:id="rId19"/>
    <p:sldId id="28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6" autoAdjust="0"/>
    <p:restoredTop sz="94660"/>
  </p:normalViewPr>
  <p:slideViewPr>
    <p:cSldViewPr snapToGrid="0">
      <p:cViewPr varScale="1">
        <p:scale>
          <a:sx n="84" d="100"/>
          <a:sy n="84" d="100"/>
        </p:scale>
        <p:origin x="126" y="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tierrez Adame, Peter" userId="5d9394be-4955-4be1-90bd-e7edf60396d6" providerId="ADAL" clId="{B0913A1A-0A75-47B6-983D-A66DD1DB152D}"/>
    <pc:docChg chg="undo custSel addSld delSld modSld sldOrd">
      <pc:chgData name="Gutierrez Adame, Peter" userId="5d9394be-4955-4be1-90bd-e7edf60396d6" providerId="ADAL" clId="{B0913A1A-0A75-47B6-983D-A66DD1DB152D}" dt="2025-11-07T13:39:16.462" v="283" actId="478"/>
      <pc:docMkLst>
        <pc:docMk/>
      </pc:docMkLst>
      <pc:sldChg chg="addSp delSp modSp del mod">
        <pc:chgData name="Gutierrez Adame, Peter" userId="5d9394be-4955-4be1-90bd-e7edf60396d6" providerId="ADAL" clId="{B0913A1A-0A75-47B6-983D-A66DD1DB152D}" dt="2025-11-07T13:18:37.313" v="161" actId="2696"/>
        <pc:sldMkLst>
          <pc:docMk/>
          <pc:sldMk cId="276200884" sldId="257"/>
        </pc:sldMkLst>
        <pc:spChg chg="del">
          <ac:chgData name="Gutierrez Adame, Peter" userId="5d9394be-4955-4be1-90bd-e7edf60396d6" providerId="ADAL" clId="{B0913A1A-0A75-47B6-983D-A66DD1DB152D}" dt="2025-11-07T13:08:49.451" v="18" actId="478"/>
          <ac:spMkLst>
            <pc:docMk/>
            <pc:sldMk cId="276200884" sldId="257"/>
            <ac:spMk id="2" creationId="{93009D86-CD10-499F-8410-A202EB9732AD}"/>
          </ac:spMkLst>
        </pc:spChg>
        <pc:spChg chg="del">
          <ac:chgData name="Gutierrez Adame, Peter" userId="5d9394be-4955-4be1-90bd-e7edf60396d6" providerId="ADAL" clId="{B0913A1A-0A75-47B6-983D-A66DD1DB152D}" dt="2025-11-07T13:08:54.274" v="19" actId="478"/>
          <ac:spMkLst>
            <pc:docMk/>
            <pc:sldMk cId="276200884" sldId="257"/>
            <ac:spMk id="3" creationId="{2EFDA8DD-8A16-41DC-9A7F-C46B2577469A}"/>
          </ac:spMkLst>
        </pc:spChg>
        <pc:spChg chg="add del mod">
          <ac:chgData name="Gutierrez Adame, Peter" userId="5d9394be-4955-4be1-90bd-e7edf60396d6" providerId="ADAL" clId="{B0913A1A-0A75-47B6-983D-A66DD1DB152D}" dt="2025-11-07T13:12:16.407" v="116" actId="478"/>
          <ac:spMkLst>
            <pc:docMk/>
            <pc:sldMk cId="276200884" sldId="257"/>
            <ac:spMk id="4" creationId="{0EB9A759-29EE-4E14-AF75-688A8CEE1327}"/>
          </ac:spMkLst>
        </pc:spChg>
        <pc:spChg chg="add mod">
          <ac:chgData name="Gutierrez Adame, Peter" userId="5d9394be-4955-4be1-90bd-e7edf60396d6" providerId="ADAL" clId="{B0913A1A-0A75-47B6-983D-A66DD1DB152D}" dt="2025-11-07T13:15:54.178" v="148" actId="1076"/>
          <ac:spMkLst>
            <pc:docMk/>
            <pc:sldMk cId="276200884" sldId="257"/>
            <ac:spMk id="5" creationId="{5A794B4A-C82A-48AD-980C-7F764F440E9F}"/>
          </ac:spMkLst>
        </pc:spChg>
        <pc:spChg chg="add del mod">
          <ac:chgData name="Gutierrez Adame, Peter" userId="5d9394be-4955-4be1-90bd-e7edf60396d6" providerId="ADAL" clId="{B0913A1A-0A75-47B6-983D-A66DD1DB152D}" dt="2025-11-07T13:18:02.959" v="159" actId="478"/>
          <ac:spMkLst>
            <pc:docMk/>
            <pc:sldMk cId="276200884" sldId="257"/>
            <ac:spMk id="6" creationId="{C2DDEFE3-8BAE-4A7C-ADDC-7BE276F894E9}"/>
          </ac:spMkLst>
        </pc:spChg>
      </pc:sldChg>
      <pc:sldChg chg="modTransition">
        <pc:chgData name="Gutierrez Adame, Peter" userId="5d9394be-4955-4be1-90bd-e7edf60396d6" providerId="ADAL" clId="{B0913A1A-0A75-47B6-983D-A66DD1DB152D}" dt="2025-11-07T13:08:17.287" v="14"/>
        <pc:sldMkLst>
          <pc:docMk/>
          <pc:sldMk cId="1887241605" sldId="264"/>
        </pc:sldMkLst>
      </pc:sldChg>
      <pc:sldChg chg="modTransition">
        <pc:chgData name="Gutierrez Adame, Peter" userId="5d9394be-4955-4be1-90bd-e7edf60396d6" providerId="ADAL" clId="{B0913A1A-0A75-47B6-983D-A66DD1DB152D}" dt="2025-11-07T13:08:06.691" v="12"/>
        <pc:sldMkLst>
          <pc:docMk/>
          <pc:sldMk cId="2741068858" sldId="267"/>
        </pc:sldMkLst>
      </pc:sldChg>
      <pc:sldChg chg="modTransition">
        <pc:chgData name="Gutierrez Adame, Peter" userId="5d9394be-4955-4be1-90bd-e7edf60396d6" providerId="ADAL" clId="{B0913A1A-0A75-47B6-983D-A66DD1DB152D}" dt="2025-11-07T13:06:41.548" v="1"/>
        <pc:sldMkLst>
          <pc:docMk/>
          <pc:sldMk cId="3660992758" sldId="270"/>
        </pc:sldMkLst>
      </pc:sldChg>
      <pc:sldChg chg="modTransition">
        <pc:chgData name="Gutierrez Adame, Peter" userId="5d9394be-4955-4be1-90bd-e7edf60396d6" providerId="ADAL" clId="{B0913A1A-0A75-47B6-983D-A66DD1DB152D}" dt="2025-11-07T13:06:37.760" v="0"/>
        <pc:sldMkLst>
          <pc:docMk/>
          <pc:sldMk cId="555259454" sldId="271"/>
        </pc:sldMkLst>
      </pc:sldChg>
      <pc:sldChg chg="modTransition">
        <pc:chgData name="Gutierrez Adame, Peter" userId="5d9394be-4955-4be1-90bd-e7edf60396d6" providerId="ADAL" clId="{B0913A1A-0A75-47B6-983D-A66DD1DB152D}" dt="2025-11-07T13:08:09.677" v="13"/>
        <pc:sldMkLst>
          <pc:docMk/>
          <pc:sldMk cId="3458600914" sldId="272"/>
        </pc:sldMkLst>
      </pc:sldChg>
      <pc:sldChg chg="modTransition">
        <pc:chgData name="Gutierrez Adame, Peter" userId="5d9394be-4955-4be1-90bd-e7edf60396d6" providerId="ADAL" clId="{B0913A1A-0A75-47B6-983D-A66DD1DB152D}" dt="2025-11-07T13:07:59.774" v="11"/>
        <pc:sldMkLst>
          <pc:docMk/>
          <pc:sldMk cId="784165360" sldId="275"/>
        </pc:sldMkLst>
      </pc:sldChg>
      <pc:sldChg chg="modTransition">
        <pc:chgData name="Gutierrez Adame, Peter" userId="5d9394be-4955-4be1-90bd-e7edf60396d6" providerId="ADAL" clId="{B0913A1A-0A75-47B6-983D-A66DD1DB152D}" dt="2025-11-07T13:08:20.980" v="15"/>
        <pc:sldMkLst>
          <pc:docMk/>
          <pc:sldMk cId="543898516" sldId="276"/>
        </pc:sldMkLst>
      </pc:sldChg>
      <pc:sldChg chg="modTransition">
        <pc:chgData name="Gutierrez Adame, Peter" userId="5d9394be-4955-4be1-90bd-e7edf60396d6" providerId="ADAL" clId="{B0913A1A-0A75-47B6-983D-A66DD1DB152D}" dt="2025-11-07T13:08:25.578" v="17"/>
        <pc:sldMkLst>
          <pc:docMk/>
          <pc:sldMk cId="474095595" sldId="277"/>
        </pc:sldMkLst>
      </pc:sldChg>
      <pc:sldChg chg="modTransition">
        <pc:chgData name="Gutierrez Adame, Peter" userId="5d9394be-4955-4be1-90bd-e7edf60396d6" providerId="ADAL" clId="{B0913A1A-0A75-47B6-983D-A66DD1DB152D}" dt="2025-11-07T13:08:22.733" v="16"/>
        <pc:sldMkLst>
          <pc:docMk/>
          <pc:sldMk cId="3770586141" sldId="278"/>
        </pc:sldMkLst>
      </pc:sldChg>
      <pc:sldChg chg="modSp add mod modTransition">
        <pc:chgData name="Gutierrez Adame, Peter" userId="5d9394be-4955-4be1-90bd-e7edf60396d6" providerId="ADAL" clId="{B0913A1A-0A75-47B6-983D-A66DD1DB152D}" dt="2025-11-07T13:13:11.626" v="124"/>
        <pc:sldMkLst>
          <pc:docMk/>
          <pc:sldMk cId="4027022996" sldId="279"/>
        </pc:sldMkLst>
        <pc:spChg chg="mod">
          <ac:chgData name="Gutierrez Adame, Peter" userId="5d9394be-4955-4be1-90bd-e7edf60396d6" providerId="ADAL" clId="{B0913A1A-0A75-47B6-983D-A66DD1DB152D}" dt="2025-11-07T13:12:33.659" v="117" actId="1076"/>
          <ac:spMkLst>
            <pc:docMk/>
            <pc:sldMk cId="4027022996" sldId="279"/>
            <ac:spMk id="4" creationId="{0EB9A759-29EE-4E14-AF75-688A8CEE1327}"/>
          </ac:spMkLst>
        </pc:spChg>
      </pc:sldChg>
      <pc:sldChg chg="addSp modSp add mod ord modTransition">
        <pc:chgData name="Gutierrez Adame, Peter" userId="5d9394be-4955-4be1-90bd-e7edf60396d6" providerId="ADAL" clId="{B0913A1A-0A75-47B6-983D-A66DD1DB152D}" dt="2025-11-07T13:33:55.471" v="262"/>
        <pc:sldMkLst>
          <pc:docMk/>
          <pc:sldMk cId="1804591351" sldId="280"/>
        </pc:sldMkLst>
        <pc:spChg chg="add mod">
          <ac:chgData name="Gutierrez Adame, Peter" userId="5d9394be-4955-4be1-90bd-e7edf60396d6" providerId="ADAL" clId="{B0913A1A-0A75-47B6-983D-A66DD1DB152D}" dt="2025-11-07T13:28:58.476" v="238" actId="1076"/>
          <ac:spMkLst>
            <pc:docMk/>
            <pc:sldMk cId="1804591351" sldId="280"/>
            <ac:spMk id="3" creationId="{144E1A6E-40F1-4EFA-A0FD-E50369DC4D71}"/>
          </ac:spMkLst>
        </pc:spChg>
        <pc:spChg chg="mod">
          <ac:chgData name="Gutierrez Adame, Peter" userId="5d9394be-4955-4be1-90bd-e7edf60396d6" providerId="ADAL" clId="{B0913A1A-0A75-47B6-983D-A66DD1DB152D}" dt="2025-11-07T13:18:27.409" v="160" actId="1076"/>
          <ac:spMkLst>
            <pc:docMk/>
            <pc:sldMk cId="1804591351" sldId="280"/>
            <ac:spMk id="5" creationId="{5A794B4A-C82A-48AD-980C-7F764F440E9F}"/>
          </ac:spMkLst>
        </pc:spChg>
        <pc:spChg chg="add mod">
          <ac:chgData name="Gutierrez Adame, Peter" userId="5d9394be-4955-4be1-90bd-e7edf60396d6" providerId="ADAL" clId="{B0913A1A-0A75-47B6-983D-A66DD1DB152D}" dt="2025-11-07T13:19:48.276" v="170" actId="1076"/>
          <ac:spMkLst>
            <pc:docMk/>
            <pc:sldMk cId="1804591351" sldId="280"/>
            <ac:spMk id="7" creationId="{8FDE6C2C-1747-4828-A1FD-136E4F1BCA24}"/>
          </ac:spMkLst>
        </pc:spChg>
      </pc:sldChg>
      <pc:sldChg chg="delSp modSp add del mod ord">
        <pc:chgData name="Gutierrez Adame, Peter" userId="5d9394be-4955-4be1-90bd-e7edf60396d6" providerId="ADAL" clId="{B0913A1A-0A75-47B6-983D-A66DD1DB152D}" dt="2025-11-07T13:27:40.151" v="193" actId="2696"/>
        <pc:sldMkLst>
          <pc:docMk/>
          <pc:sldMk cId="610762635" sldId="281"/>
        </pc:sldMkLst>
        <pc:spChg chg="del mod">
          <ac:chgData name="Gutierrez Adame, Peter" userId="5d9394be-4955-4be1-90bd-e7edf60396d6" providerId="ADAL" clId="{B0913A1A-0A75-47B6-983D-A66DD1DB152D}" dt="2025-11-07T13:18:48.364" v="164" actId="478"/>
          <ac:spMkLst>
            <pc:docMk/>
            <pc:sldMk cId="610762635" sldId="281"/>
            <ac:spMk id="6" creationId="{C2DDEFE3-8BAE-4A7C-ADDC-7BE276F894E9}"/>
          </ac:spMkLst>
        </pc:spChg>
      </pc:sldChg>
      <pc:sldChg chg="addSp delSp modSp add mod modTransition">
        <pc:chgData name="Gutierrez Adame, Peter" userId="5d9394be-4955-4be1-90bd-e7edf60396d6" providerId="ADAL" clId="{B0913A1A-0A75-47B6-983D-A66DD1DB152D}" dt="2025-11-07T13:39:16.462" v="283" actId="478"/>
        <pc:sldMkLst>
          <pc:docMk/>
          <pc:sldMk cId="2666578875" sldId="282"/>
        </pc:sldMkLst>
        <pc:spChg chg="add del">
          <ac:chgData name="Gutierrez Adame, Peter" userId="5d9394be-4955-4be1-90bd-e7edf60396d6" providerId="ADAL" clId="{B0913A1A-0A75-47B6-983D-A66DD1DB152D}" dt="2025-11-07T13:23:23.035" v="174" actId="478"/>
          <ac:spMkLst>
            <pc:docMk/>
            <pc:sldMk cId="2666578875" sldId="282"/>
            <ac:spMk id="2" creationId="{A9B98FCE-B85E-4A02-B91A-CEBE5614997C}"/>
          </ac:spMkLst>
        </pc:spChg>
        <pc:spChg chg="mod">
          <ac:chgData name="Gutierrez Adame, Peter" userId="5d9394be-4955-4be1-90bd-e7edf60396d6" providerId="ADAL" clId="{B0913A1A-0A75-47B6-983D-A66DD1DB152D}" dt="2025-11-07T13:38:57.126" v="280" actId="1076"/>
          <ac:spMkLst>
            <pc:docMk/>
            <pc:sldMk cId="2666578875" sldId="282"/>
            <ac:spMk id="4" creationId="{0EB9A759-29EE-4E14-AF75-688A8CEE1327}"/>
          </ac:spMkLst>
        </pc:spChg>
        <pc:spChg chg="add del mod">
          <ac:chgData name="Gutierrez Adame, Peter" userId="5d9394be-4955-4be1-90bd-e7edf60396d6" providerId="ADAL" clId="{B0913A1A-0A75-47B6-983D-A66DD1DB152D}" dt="2025-11-07T13:39:16.462" v="283" actId="478"/>
          <ac:spMkLst>
            <pc:docMk/>
            <pc:sldMk cId="2666578875" sldId="282"/>
            <ac:spMk id="5" creationId="{E2A6B35D-3413-448A-9080-3BE0D811B56B}"/>
          </ac:spMkLst>
        </pc:spChg>
        <pc:graphicFrameChg chg="add del mod">
          <ac:chgData name="Gutierrez Adame, Peter" userId="5d9394be-4955-4be1-90bd-e7edf60396d6" providerId="ADAL" clId="{B0913A1A-0A75-47B6-983D-A66DD1DB152D}" dt="2025-11-07T13:38:13.564" v="267" actId="478"/>
          <ac:graphicFrameMkLst>
            <pc:docMk/>
            <pc:sldMk cId="2666578875" sldId="282"/>
            <ac:graphicFrameMk id="8" creationId="{48E310A4-4CDF-45F6-9FCB-55040F3836D5}"/>
          </ac:graphicFrameMkLst>
        </pc:graphicFrameChg>
        <pc:picChg chg="add del mod">
          <ac:chgData name="Gutierrez Adame, Peter" userId="5d9394be-4955-4be1-90bd-e7edf60396d6" providerId="ADAL" clId="{B0913A1A-0A75-47B6-983D-A66DD1DB152D}" dt="2025-11-07T13:38:15.128" v="268" actId="478"/>
          <ac:picMkLst>
            <pc:docMk/>
            <pc:sldMk cId="2666578875" sldId="282"/>
            <ac:picMk id="7" creationId="{258D7735-BB20-4D5A-B8DC-93B95912616F}"/>
          </ac:picMkLst>
        </pc:picChg>
        <pc:picChg chg="add mod">
          <ac:chgData name="Gutierrez Adame, Peter" userId="5d9394be-4955-4be1-90bd-e7edf60396d6" providerId="ADAL" clId="{B0913A1A-0A75-47B6-983D-A66DD1DB152D}" dt="2025-11-07T13:38:59.262" v="281" actId="1076"/>
          <ac:picMkLst>
            <pc:docMk/>
            <pc:sldMk cId="2666578875" sldId="282"/>
            <ac:picMk id="10" creationId="{4F676223-C6BE-45A3-B73B-FFAA7E6457B1}"/>
          </ac:picMkLst>
        </pc:picChg>
      </pc:sldChg>
      <pc:sldChg chg="add modTransition">
        <pc:chgData name="Gutierrez Adame, Peter" userId="5d9394be-4955-4be1-90bd-e7edf60396d6" providerId="ADAL" clId="{B0913A1A-0A75-47B6-983D-A66DD1DB152D}" dt="2025-11-07T13:33:50.654" v="261"/>
        <pc:sldMkLst>
          <pc:docMk/>
          <pc:sldMk cId="3312861908" sldId="283"/>
        </pc:sldMkLst>
      </pc:sldChg>
      <pc:sldChg chg="addSp delSp modSp add mod modTransition">
        <pc:chgData name="Gutierrez Adame, Peter" userId="5d9394be-4955-4be1-90bd-e7edf60396d6" providerId="ADAL" clId="{B0913A1A-0A75-47B6-983D-A66DD1DB152D}" dt="2025-11-07T13:33:58.912" v="263"/>
        <pc:sldMkLst>
          <pc:docMk/>
          <pc:sldMk cId="2680565563" sldId="284"/>
        </pc:sldMkLst>
        <pc:spChg chg="del">
          <ac:chgData name="Gutierrez Adame, Peter" userId="5d9394be-4955-4be1-90bd-e7edf60396d6" providerId="ADAL" clId="{B0913A1A-0A75-47B6-983D-A66DD1DB152D}" dt="2025-11-07T13:27:47.135" v="195" actId="478"/>
          <ac:spMkLst>
            <pc:docMk/>
            <pc:sldMk cId="2680565563" sldId="284"/>
            <ac:spMk id="6" creationId="{C2DDEFE3-8BAE-4A7C-ADDC-7BE276F894E9}"/>
          </ac:spMkLst>
        </pc:spChg>
        <pc:spChg chg="add mod">
          <ac:chgData name="Gutierrez Adame, Peter" userId="5d9394be-4955-4be1-90bd-e7edf60396d6" providerId="ADAL" clId="{B0913A1A-0A75-47B6-983D-A66DD1DB152D}" dt="2025-11-07T13:32:05.148" v="260" actId="207"/>
          <ac:spMkLst>
            <pc:docMk/>
            <pc:sldMk cId="2680565563" sldId="284"/>
            <ac:spMk id="8" creationId="{66D985A4-798A-4118-A445-2D7CF64CF1F1}"/>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3945938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2159157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800522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97073-B360-49D0-A89C-70F3CA5B2972}"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3898350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97073-B360-49D0-A89C-70F3CA5B2972}"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59339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97073-B360-49D0-A89C-70F3CA5B2972}"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4151992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E397073-B360-49D0-A89C-70F3CA5B2972}"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4270771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397073-B360-49D0-A89C-70F3CA5B2972}"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2596768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397073-B360-49D0-A89C-70F3CA5B2972}"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2497578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397073-B360-49D0-A89C-70F3CA5B2972}"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2745706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394903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2596568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1614409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365568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3632674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73549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97073-B360-49D0-A89C-70F3CA5B2972}"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89D7C-B642-4B08-BEE5-319140E42E27}" type="slidenum">
              <a:rPr lang="en-US" smtClean="0"/>
              <a:t>‹#›</a:t>
            </a:fld>
            <a:endParaRPr lang="en-US"/>
          </a:p>
        </p:txBody>
      </p:sp>
    </p:spTree>
    <p:extLst>
      <p:ext uri="{BB962C8B-B14F-4D97-AF65-F5344CB8AC3E}">
        <p14:creationId xmlns:p14="http://schemas.microsoft.com/office/powerpoint/2010/main" val="4195413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397073-B360-49D0-A89C-70F3CA5B2972}" type="datetimeFigureOut">
              <a:rPr lang="en-US" smtClean="0"/>
              <a:t>11/7/2025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DC89D7C-B642-4B08-BEE5-319140E42E27}" type="slidenum">
              <a:rPr lang="en-US" smtClean="0"/>
              <a:t>‹#›</a:t>
            </a:fld>
            <a:endParaRPr lang="en-US"/>
          </a:p>
        </p:txBody>
      </p:sp>
    </p:spTree>
    <p:extLst>
      <p:ext uri="{BB962C8B-B14F-4D97-AF65-F5344CB8AC3E}">
        <p14:creationId xmlns:p14="http://schemas.microsoft.com/office/powerpoint/2010/main" val="2604325476"/>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09D86-CD10-499F-8410-A202EB9732AD}"/>
              </a:ext>
            </a:extLst>
          </p:cNvPr>
          <p:cNvSpPr>
            <a:spLocks noGrp="1"/>
          </p:cNvSpPr>
          <p:nvPr>
            <p:ph type="ctrTitle"/>
          </p:nvPr>
        </p:nvSpPr>
        <p:spPr>
          <a:xfrm>
            <a:off x="2589032" y="1095082"/>
            <a:ext cx="7197726" cy="2421464"/>
          </a:xfrm>
          <a:noFill/>
        </p:spPr>
        <p:txBody>
          <a:bodyPr/>
          <a:lstStyle/>
          <a:p>
            <a:pPr algn="ctr"/>
            <a:r>
              <a:rPr lang="en-US" b="1" i="0" dirty="0">
                <a:gradFill>
                  <a:gsLst>
                    <a:gs pos="24000">
                      <a:srgbClr val="00B0F0"/>
                    </a:gs>
                    <a:gs pos="5000">
                      <a:srgbClr val="C00000"/>
                    </a:gs>
                    <a:gs pos="41000">
                      <a:srgbClr val="00B050">
                        <a:lumMod val="100000"/>
                      </a:srgbClr>
                    </a:gs>
                    <a:gs pos="86000">
                      <a:srgbClr val="3951A0"/>
                    </a:gs>
                    <a:gs pos="100000">
                      <a:srgbClr val="FFC000"/>
                    </a:gs>
                    <a:gs pos="71000">
                      <a:srgbClr val="FFFF00"/>
                    </a:gs>
                    <a:gs pos="55000">
                      <a:srgbClr val="7030A0"/>
                    </a:gs>
                  </a:gsLst>
                  <a:lin ang="3000000" scaled="0"/>
                </a:gradFill>
                <a:effectLst/>
                <a:latin typeface="-apple-system"/>
              </a:rPr>
              <a:t>CSS Colors and Accessibility</a:t>
            </a:r>
            <a:endParaRPr lang="en-US" dirty="0">
              <a:gradFill>
                <a:gsLst>
                  <a:gs pos="24000">
                    <a:srgbClr val="00B0F0"/>
                  </a:gs>
                  <a:gs pos="5000">
                    <a:srgbClr val="C00000"/>
                  </a:gs>
                  <a:gs pos="41000">
                    <a:srgbClr val="00B050">
                      <a:lumMod val="100000"/>
                    </a:srgbClr>
                  </a:gs>
                  <a:gs pos="86000">
                    <a:srgbClr val="3951A0"/>
                  </a:gs>
                  <a:gs pos="100000">
                    <a:srgbClr val="FFC000"/>
                  </a:gs>
                  <a:gs pos="71000">
                    <a:srgbClr val="FFFF00"/>
                  </a:gs>
                  <a:gs pos="55000">
                    <a:srgbClr val="7030A0"/>
                  </a:gs>
                </a:gsLst>
                <a:lin ang="3000000" scaled="0"/>
              </a:gradFill>
            </a:endParaRPr>
          </a:p>
        </p:txBody>
      </p:sp>
      <p:sp>
        <p:nvSpPr>
          <p:cNvPr id="3" name="Subtitle 2">
            <a:extLst>
              <a:ext uri="{FF2B5EF4-FFF2-40B4-BE49-F238E27FC236}">
                <a16:creationId xmlns:a16="http://schemas.microsoft.com/office/drawing/2014/main" id="{2EFDA8DD-8A16-41DC-9A7F-C46B2577469A}"/>
              </a:ext>
            </a:extLst>
          </p:cNvPr>
          <p:cNvSpPr>
            <a:spLocks noGrp="1"/>
          </p:cNvSpPr>
          <p:nvPr>
            <p:ph type="subTitle" idx="1"/>
          </p:nvPr>
        </p:nvSpPr>
        <p:spPr>
          <a:xfrm>
            <a:off x="2497137" y="3869261"/>
            <a:ext cx="7197726" cy="1405467"/>
          </a:xfrm>
        </p:spPr>
        <p:txBody>
          <a:bodyPr>
            <a:normAutofit/>
          </a:bodyPr>
          <a:lstStyle/>
          <a:p>
            <a:pPr algn="ctr"/>
            <a:r>
              <a:rPr lang="en-US" sz="2800" dirty="0">
                <a:gradFill>
                  <a:gsLst>
                    <a:gs pos="26000">
                      <a:srgbClr val="00B0F0"/>
                    </a:gs>
                    <a:gs pos="0">
                      <a:srgbClr val="C00000"/>
                    </a:gs>
                    <a:gs pos="55000">
                      <a:srgbClr val="00B050"/>
                    </a:gs>
                    <a:gs pos="85000">
                      <a:srgbClr val="7030A0"/>
                    </a:gs>
                  </a:gsLst>
                  <a:lin ang="5400000" scaled="1"/>
                </a:gradFill>
              </a:rPr>
              <a:t>BY Giovanni g.a</a:t>
            </a:r>
          </a:p>
        </p:txBody>
      </p:sp>
      <p:sp>
        <p:nvSpPr>
          <p:cNvPr id="4" name="TextBox 3">
            <a:extLst>
              <a:ext uri="{FF2B5EF4-FFF2-40B4-BE49-F238E27FC236}">
                <a16:creationId xmlns:a16="http://schemas.microsoft.com/office/drawing/2014/main" id="{2B5AE1F3-982B-40FC-BADA-CAC2A4279E96}"/>
              </a:ext>
            </a:extLst>
          </p:cNvPr>
          <p:cNvSpPr txBox="1"/>
          <p:nvPr/>
        </p:nvSpPr>
        <p:spPr>
          <a:xfrm>
            <a:off x="10162095" y="6146276"/>
            <a:ext cx="1782255" cy="369332"/>
          </a:xfrm>
          <a:prstGeom prst="rect">
            <a:avLst/>
          </a:prstGeom>
          <a:noFill/>
        </p:spPr>
        <p:txBody>
          <a:bodyPr wrap="square" rtlCol="0">
            <a:spAutoFit/>
          </a:bodyPr>
          <a:lstStyle/>
          <a:p>
            <a:r>
              <a:rPr lang="en-US" dirty="0">
                <a:gradFill>
                  <a:gsLst>
                    <a:gs pos="26000">
                      <a:srgbClr val="00B0F0"/>
                    </a:gs>
                    <a:gs pos="0">
                      <a:srgbClr val="C00000"/>
                    </a:gs>
                    <a:gs pos="55000">
                      <a:srgbClr val="00B050"/>
                    </a:gs>
                    <a:gs pos="85000">
                      <a:srgbClr val="7030A0"/>
                    </a:gs>
                  </a:gsLst>
                  <a:lin ang="5400000" scaled="1"/>
                </a:gradFill>
              </a:rPr>
              <a:t>CLASS OF 2027</a:t>
            </a:r>
          </a:p>
        </p:txBody>
      </p:sp>
    </p:spTree>
    <p:extLst>
      <p:ext uri="{BB962C8B-B14F-4D97-AF65-F5344CB8AC3E}">
        <p14:creationId xmlns:p14="http://schemas.microsoft.com/office/powerpoint/2010/main" val="201694879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7E1D54-9440-4E99-BCE5-009D638EC4D5}"/>
              </a:ext>
            </a:extLst>
          </p:cNvPr>
          <p:cNvSpPr txBox="1"/>
          <p:nvPr/>
        </p:nvSpPr>
        <p:spPr>
          <a:xfrm>
            <a:off x="348792" y="471341"/>
            <a:ext cx="4939645" cy="1323439"/>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What is CSS Colors &amp; Accessibility?</a:t>
            </a:r>
          </a:p>
        </p:txBody>
      </p:sp>
    </p:spTree>
    <p:extLst>
      <p:ext uri="{BB962C8B-B14F-4D97-AF65-F5344CB8AC3E}">
        <p14:creationId xmlns:p14="http://schemas.microsoft.com/office/powerpoint/2010/main" val="1674877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7E1D54-9440-4E99-BCE5-009D638EC4D5}"/>
              </a:ext>
            </a:extLst>
          </p:cNvPr>
          <p:cNvSpPr txBox="1"/>
          <p:nvPr/>
        </p:nvSpPr>
        <p:spPr>
          <a:xfrm>
            <a:off x="348792" y="471341"/>
            <a:ext cx="4939645" cy="1323439"/>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What is CSS Colors &amp; Accessibility?</a:t>
            </a:r>
          </a:p>
        </p:txBody>
      </p:sp>
      <p:sp>
        <p:nvSpPr>
          <p:cNvPr id="4" name="Rectangle 1">
            <a:extLst>
              <a:ext uri="{FF2B5EF4-FFF2-40B4-BE49-F238E27FC236}">
                <a16:creationId xmlns:a16="http://schemas.microsoft.com/office/drawing/2014/main" id="{ED3507E5-0C4B-4BD1-8A68-1707BB7E5D88}"/>
              </a:ext>
            </a:extLst>
          </p:cNvPr>
          <p:cNvSpPr>
            <a:spLocks noChangeArrowheads="1"/>
          </p:cNvSpPr>
          <p:nvPr/>
        </p:nvSpPr>
        <p:spPr bwMode="auto">
          <a:xfrm>
            <a:off x="1986845" y="2613534"/>
            <a:ext cx="8669867" cy="304698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dirty="0"/>
              <a:t>For </a:t>
            </a:r>
            <a:r>
              <a:rPr lang="en-US" sz="2400" b="1" dirty="0">
                <a:gradFill>
                  <a:gsLst>
                    <a:gs pos="26000">
                      <a:srgbClr val="00B0F0"/>
                    </a:gs>
                    <a:gs pos="0">
                      <a:srgbClr val="C00000"/>
                    </a:gs>
                    <a:gs pos="55000">
                      <a:srgbClr val="00B050"/>
                    </a:gs>
                    <a:gs pos="85000">
                      <a:srgbClr val="7030A0"/>
                    </a:gs>
                  </a:gsLst>
                  <a:lin ang="5400000" scaled="1"/>
                </a:gradFill>
              </a:rPr>
              <a:t>CSS colors and accessibility</a:t>
            </a:r>
            <a:r>
              <a:rPr lang="en-US" sz="2400" dirty="0"/>
              <a:t>, it's crucial to ensure sufficient </a:t>
            </a:r>
            <a:r>
              <a:rPr lang="en-US" sz="2400" b="1" dirty="0">
                <a:gradFill>
                  <a:gsLst>
                    <a:gs pos="26000">
                      <a:srgbClr val="00B0F0"/>
                    </a:gs>
                    <a:gs pos="0">
                      <a:srgbClr val="C00000"/>
                    </a:gs>
                    <a:gs pos="55000">
                      <a:srgbClr val="00B050"/>
                    </a:gs>
                    <a:gs pos="85000">
                      <a:srgbClr val="7030A0"/>
                    </a:gs>
                  </a:gsLst>
                  <a:lin ang="5400000" scaled="1"/>
                </a:gradFill>
              </a:rPr>
              <a:t>color contrast</a:t>
            </a:r>
            <a:r>
              <a:rPr lang="en-US" sz="2400" dirty="0"/>
              <a:t> between text and background elements, as low contrast makes content unreadable for users with visual impairments or those in bright environments. </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t>Achieving a minimum </a:t>
            </a:r>
            <a:r>
              <a:rPr lang="en-US" sz="2400" b="1" dirty="0">
                <a:gradFill>
                  <a:gsLst>
                    <a:gs pos="26000">
                      <a:srgbClr val="00B0F0"/>
                    </a:gs>
                    <a:gs pos="0">
                      <a:srgbClr val="C00000"/>
                    </a:gs>
                    <a:gs pos="55000">
                      <a:srgbClr val="00B050"/>
                    </a:gs>
                    <a:gs pos="85000">
                      <a:srgbClr val="7030A0"/>
                    </a:gs>
                  </a:gsLst>
                  <a:lin ang="5400000" scaled="1"/>
                </a:gradFill>
              </a:rPr>
              <a:t>contrast ratio</a:t>
            </a:r>
            <a:r>
              <a:rPr lang="en-US" sz="2400" dirty="0"/>
              <a:t> (often 4.5:1 for normal text) is essential for meeting </a:t>
            </a:r>
            <a:r>
              <a:rPr lang="en-US" sz="2400" b="1" dirty="0">
                <a:gradFill>
                  <a:gsLst>
                    <a:gs pos="26000">
                      <a:srgbClr val="00B0F0"/>
                    </a:gs>
                    <a:gs pos="0">
                      <a:srgbClr val="C00000"/>
                    </a:gs>
                    <a:gs pos="55000">
                      <a:srgbClr val="00B050"/>
                    </a:gs>
                    <a:gs pos="85000">
                      <a:srgbClr val="7030A0"/>
                    </a:gs>
                  </a:gsLst>
                  <a:lin ang="5400000" scaled="1"/>
                </a:gradFill>
              </a:rPr>
              <a:t>WCAG</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Web Content Accessibility Guidelines) standards.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3B11C56-7A1E-4E95-A34E-C8F25C19868E}"/>
              </a:ext>
            </a:extLst>
          </p:cNvPr>
          <p:cNvSpPr txBox="1"/>
          <p:nvPr/>
        </p:nvSpPr>
        <p:spPr>
          <a:xfrm>
            <a:off x="5747208" y="1379281"/>
            <a:ext cx="6096000" cy="830997"/>
          </a:xfrm>
          <a:prstGeom prst="rect">
            <a:avLst/>
          </a:prstGeom>
          <a:noFill/>
        </p:spPr>
        <p:txBody>
          <a:bodyPr wrap="square">
            <a:spAutoFit/>
          </a:bodyPr>
          <a:lstStyle/>
          <a:p>
            <a:r>
              <a:rPr lang="en-US" sz="4800" dirty="0"/>
              <a:t>🎨</a:t>
            </a:r>
          </a:p>
        </p:txBody>
      </p:sp>
    </p:spTree>
    <p:extLst>
      <p:ext uri="{BB962C8B-B14F-4D97-AF65-F5344CB8AC3E}">
        <p14:creationId xmlns:p14="http://schemas.microsoft.com/office/powerpoint/2010/main" val="41333794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5728AE2-4D2C-4561-821E-1F5C9F273EC9}"/>
              </a:ext>
            </a:extLst>
          </p:cNvPr>
          <p:cNvSpPr txBox="1"/>
          <p:nvPr/>
        </p:nvSpPr>
        <p:spPr>
          <a:xfrm>
            <a:off x="555367" y="599715"/>
            <a:ext cx="628570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Term &amp; Elements</a:t>
            </a:r>
          </a:p>
        </p:txBody>
      </p:sp>
    </p:spTree>
    <p:extLst>
      <p:ext uri="{BB962C8B-B14F-4D97-AF65-F5344CB8AC3E}">
        <p14:creationId xmlns:p14="http://schemas.microsoft.com/office/powerpoint/2010/main" val="376513924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5728AE2-4D2C-4561-821E-1F5C9F273EC9}"/>
              </a:ext>
            </a:extLst>
          </p:cNvPr>
          <p:cNvSpPr txBox="1"/>
          <p:nvPr/>
        </p:nvSpPr>
        <p:spPr>
          <a:xfrm>
            <a:off x="555367" y="599715"/>
            <a:ext cx="628570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Term &amp; Elements</a:t>
            </a:r>
          </a:p>
        </p:txBody>
      </p:sp>
      <p:sp>
        <p:nvSpPr>
          <p:cNvPr id="12" name="TextBox 11">
            <a:extLst>
              <a:ext uri="{FF2B5EF4-FFF2-40B4-BE49-F238E27FC236}">
                <a16:creationId xmlns:a16="http://schemas.microsoft.com/office/drawing/2014/main" id="{CD1EE9E9-ED9C-4A14-9936-0974B857AD2B}"/>
              </a:ext>
            </a:extLst>
          </p:cNvPr>
          <p:cNvSpPr txBox="1"/>
          <p:nvPr/>
        </p:nvSpPr>
        <p:spPr>
          <a:xfrm>
            <a:off x="5555544" y="1782486"/>
            <a:ext cx="835378" cy="830997"/>
          </a:xfrm>
          <a:prstGeom prst="rect">
            <a:avLst/>
          </a:prstGeom>
          <a:noFill/>
        </p:spPr>
        <p:txBody>
          <a:bodyPr wrap="square">
            <a:spAutoFit/>
          </a:bodyPr>
          <a:lstStyle/>
          <a:p>
            <a:r>
              <a:rPr lang="en-US" sz="4800" dirty="0"/>
              <a:t>🔑</a:t>
            </a:r>
          </a:p>
        </p:txBody>
      </p:sp>
      <p:sp>
        <p:nvSpPr>
          <p:cNvPr id="18" name="TextBox 17">
            <a:extLst>
              <a:ext uri="{FF2B5EF4-FFF2-40B4-BE49-F238E27FC236}">
                <a16:creationId xmlns:a16="http://schemas.microsoft.com/office/drawing/2014/main" id="{E7EE1D2F-71AD-43FF-A7D0-6AC6605FC3B4}"/>
              </a:ext>
            </a:extLst>
          </p:cNvPr>
          <p:cNvSpPr txBox="1"/>
          <p:nvPr/>
        </p:nvSpPr>
        <p:spPr>
          <a:xfrm>
            <a:off x="2057399" y="2828835"/>
            <a:ext cx="8667045"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Color Contrast Ratio</a:t>
            </a:r>
            <a:r>
              <a:rPr kumimoji="0" lang="en-US" altLang="en-US" sz="2400" b="0" i="0" u="none" strike="noStrike" cap="none" normalizeH="0" baseline="0" dirty="0">
                <a:ln>
                  <a:noFill/>
                </a:ln>
                <a:solidFill>
                  <a:schemeClr val="tx1"/>
                </a:solidFill>
                <a:effectLst/>
                <a:latin typeface="Arial" panose="020B0604020202020204" pitchFamily="34" charset="0"/>
              </a:rPr>
              <a:t> The numerical difference in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luminosity</a:t>
            </a:r>
            <a:r>
              <a:rPr kumimoji="0" lang="en-US" altLang="en-US" sz="2400" b="0" i="0" u="none" strike="noStrike" cap="none" normalizeH="0" baseline="0" dirty="0">
                <a:ln>
                  <a:noFill/>
                </a:ln>
                <a:solidFill>
                  <a:schemeClr val="tx1"/>
                </a:solidFill>
                <a:effectLst/>
                <a:latin typeface="Arial" panose="020B0604020202020204" pitchFamily="34" charset="0"/>
              </a:rPr>
              <a:t> (brightness) between the text (foreground) and background. A higher ratio means better readability.</a:t>
            </a:r>
          </a:p>
        </p:txBody>
      </p:sp>
      <p:sp>
        <p:nvSpPr>
          <p:cNvPr id="19" name="TextBox 18">
            <a:extLst>
              <a:ext uri="{FF2B5EF4-FFF2-40B4-BE49-F238E27FC236}">
                <a16:creationId xmlns:a16="http://schemas.microsoft.com/office/drawing/2014/main" id="{DDC5F80C-E957-46DF-AB2F-E635A20AC476}"/>
              </a:ext>
            </a:extLst>
          </p:cNvPr>
          <p:cNvSpPr txBox="1"/>
          <p:nvPr/>
        </p:nvSpPr>
        <p:spPr>
          <a:xfrm>
            <a:off x="5887155" y="4559552"/>
            <a:ext cx="1659467"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1</a:t>
            </a:r>
          </a:p>
        </p:txBody>
      </p:sp>
    </p:spTree>
    <p:extLst>
      <p:ext uri="{BB962C8B-B14F-4D97-AF65-F5344CB8AC3E}">
        <p14:creationId xmlns:p14="http://schemas.microsoft.com/office/powerpoint/2010/main" val="9538457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5728AE2-4D2C-4561-821E-1F5C9F273EC9}"/>
              </a:ext>
            </a:extLst>
          </p:cNvPr>
          <p:cNvSpPr txBox="1"/>
          <p:nvPr/>
        </p:nvSpPr>
        <p:spPr>
          <a:xfrm>
            <a:off x="555367" y="599715"/>
            <a:ext cx="628570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Term &amp; Elements</a:t>
            </a:r>
          </a:p>
        </p:txBody>
      </p:sp>
      <p:sp>
        <p:nvSpPr>
          <p:cNvPr id="12" name="TextBox 11">
            <a:extLst>
              <a:ext uri="{FF2B5EF4-FFF2-40B4-BE49-F238E27FC236}">
                <a16:creationId xmlns:a16="http://schemas.microsoft.com/office/drawing/2014/main" id="{CD1EE9E9-ED9C-4A14-9936-0974B857AD2B}"/>
              </a:ext>
            </a:extLst>
          </p:cNvPr>
          <p:cNvSpPr txBox="1"/>
          <p:nvPr/>
        </p:nvSpPr>
        <p:spPr>
          <a:xfrm>
            <a:off x="5555544" y="1782486"/>
            <a:ext cx="835378" cy="830997"/>
          </a:xfrm>
          <a:prstGeom prst="rect">
            <a:avLst/>
          </a:prstGeom>
          <a:noFill/>
        </p:spPr>
        <p:txBody>
          <a:bodyPr wrap="square">
            <a:spAutoFit/>
          </a:bodyPr>
          <a:lstStyle/>
          <a:p>
            <a:r>
              <a:rPr lang="en-US" sz="4800" dirty="0"/>
              <a:t>🔑</a:t>
            </a:r>
          </a:p>
        </p:txBody>
      </p:sp>
      <p:sp>
        <p:nvSpPr>
          <p:cNvPr id="18" name="TextBox 17">
            <a:extLst>
              <a:ext uri="{FF2B5EF4-FFF2-40B4-BE49-F238E27FC236}">
                <a16:creationId xmlns:a16="http://schemas.microsoft.com/office/drawing/2014/main" id="{E7EE1D2F-71AD-43FF-A7D0-6AC6605FC3B4}"/>
              </a:ext>
            </a:extLst>
          </p:cNvPr>
          <p:cNvSpPr txBox="1"/>
          <p:nvPr/>
        </p:nvSpPr>
        <p:spPr>
          <a:xfrm>
            <a:off x="2057400" y="2828835"/>
            <a:ext cx="8667045"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sz="2400" b="1" dirty="0">
                <a:gradFill>
                  <a:gsLst>
                    <a:gs pos="26000">
                      <a:srgbClr val="00B0F0"/>
                    </a:gs>
                    <a:gs pos="0">
                      <a:srgbClr val="C00000"/>
                    </a:gs>
                    <a:gs pos="55000">
                      <a:srgbClr val="00B050"/>
                    </a:gs>
                    <a:gs pos="85000">
                      <a:srgbClr val="7030A0"/>
                    </a:gs>
                  </a:gsLst>
                  <a:lin ang="5400000" scaled="1"/>
                </a:gradFill>
              </a:rPr>
              <a:t>WCAG</a:t>
            </a:r>
            <a:r>
              <a:rPr lang="en-US" sz="2400" b="1" dirty="0"/>
              <a:t> (</a:t>
            </a:r>
            <a:r>
              <a:rPr lang="en-US" sz="2400" b="1" dirty="0">
                <a:gradFill>
                  <a:gsLst>
                    <a:gs pos="26000">
                      <a:srgbClr val="00B0F0"/>
                    </a:gs>
                    <a:gs pos="0">
                      <a:srgbClr val="C00000"/>
                    </a:gs>
                    <a:gs pos="55000">
                      <a:srgbClr val="00B050"/>
                    </a:gs>
                    <a:gs pos="85000">
                      <a:srgbClr val="7030A0"/>
                    </a:gs>
                  </a:gsLst>
                  <a:lin ang="5400000" scaled="1"/>
                </a:gradFill>
              </a:rPr>
              <a:t>Web Content Accessibility Guidelines</a:t>
            </a:r>
            <a:r>
              <a:rPr lang="en-US" sz="2400" b="1" dirty="0"/>
              <a:t>):</a:t>
            </a:r>
            <a:r>
              <a:rPr lang="en-US" sz="2400" dirty="0"/>
              <a:t> The international </a:t>
            </a:r>
            <a:r>
              <a:rPr lang="en-US" sz="2400" b="1" dirty="0">
                <a:gradFill>
                  <a:gsLst>
                    <a:gs pos="26000">
                      <a:srgbClr val="00B0F0"/>
                    </a:gs>
                    <a:gs pos="0">
                      <a:srgbClr val="C00000"/>
                    </a:gs>
                    <a:gs pos="55000">
                      <a:srgbClr val="00B050"/>
                    </a:gs>
                    <a:gs pos="85000">
                      <a:srgbClr val="7030A0"/>
                    </a:gs>
                  </a:gsLst>
                  <a:lin ang="5400000" scaled="1"/>
                </a:gradFill>
              </a:rPr>
              <a:t>standards</a:t>
            </a:r>
            <a:r>
              <a:rPr lang="en-US" sz="2400" dirty="0"/>
              <a:t> that define required minimum contrast ratios (e.g., </a:t>
            </a:r>
            <a:r>
              <a:rPr lang="en-US" sz="2400" b="1" dirty="0"/>
              <a:t>4.5:1</a:t>
            </a:r>
            <a:r>
              <a:rPr lang="en-US" sz="2400" dirty="0"/>
              <a:t> for normal text) to ensure content is accessible.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DDC5F80C-E957-46DF-AB2F-E635A20AC476}"/>
              </a:ext>
            </a:extLst>
          </p:cNvPr>
          <p:cNvSpPr txBox="1"/>
          <p:nvPr/>
        </p:nvSpPr>
        <p:spPr>
          <a:xfrm>
            <a:off x="5887155" y="4559552"/>
            <a:ext cx="1659467"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2</a:t>
            </a:r>
          </a:p>
        </p:txBody>
      </p:sp>
    </p:spTree>
    <p:extLst>
      <p:ext uri="{BB962C8B-B14F-4D97-AF65-F5344CB8AC3E}">
        <p14:creationId xmlns:p14="http://schemas.microsoft.com/office/powerpoint/2010/main" val="55525945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5728AE2-4D2C-4561-821E-1F5C9F273EC9}"/>
              </a:ext>
            </a:extLst>
          </p:cNvPr>
          <p:cNvSpPr txBox="1"/>
          <p:nvPr/>
        </p:nvSpPr>
        <p:spPr>
          <a:xfrm>
            <a:off x="555367" y="599715"/>
            <a:ext cx="628570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Term &amp; Elements</a:t>
            </a:r>
          </a:p>
        </p:txBody>
      </p:sp>
      <p:sp>
        <p:nvSpPr>
          <p:cNvPr id="12" name="TextBox 11">
            <a:extLst>
              <a:ext uri="{FF2B5EF4-FFF2-40B4-BE49-F238E27FC236}">
                <a16:creationId xmlns:a16="http://schemas.microsoft.com/office/drawing/2014/main" id="{CD1EE9E9-ED9C-4A14-9936-0974B857AD2B}"/>
              </a:ext>
            </a:extLst>
          </p:cNvPr>
          <p:cNvSpPr txBox="1"/>
          <p:nvPr/>
        </p:nvSpPr>
        <p:spPr>
          <a:xfrm>
            <a:off x="5555544" y="1782486"/>
            <a:ext cx="835378" cy="830997"/>
          </a:xfrm>
          <a:prstGeom prst="rect">
            <a:avLst/>
          </a:prstGeom>
          <a:noFill/>
        </p:spPr>
        <p:txBody>
          <a:bodyPr wrap="square">
            <a:spAutoFit/>
          </a:bodyPr>
          <a:lstStyle/>
          <a:p>
            <a:r>
              <a:rPr lang="en-US" sz="4800" dirty="0"/>
              <a:t>🔑</a:t>
            </a:r>
          </a:p>
        </p:txBody>
      </p:sp>
      <p:sp>
        <p:nvSpPr>
          <p:cNvPr id="18" name="TextBox 17">
            <a:extLst>
              <a:ext uri="{FF2B5EF4-FFF2-40B4-BE49-F238E27FC236}">
                <a16:creationId xmlns:a16="http://schemas.microsoft.com/office/drawing/2014/main" id="{E7EE1D2F-71AD-43FF-A7D0-6AC6605FC3B4}"/>
              </a:ext>
            </a:extLst>
          </p:cNvPr>
          <p:cNvSpPr txBox="1"/>
          <p:nvPr/>
        </p:nvSpPr>
        <p:spPr>
          <a:xfrm>
            <a:off x="2057400" y="2828835"/>
            <a:ext cx="8667045" cy="1200329"/>
          </a:xfrm>
          <a:prstGeom prst="rect">
            <a:avLst/>
          </a:prstGeom>
          <a:noFill/>
        </p:spPr>
        <p:txBody>
          <a:bodyPr wrap="square">
            <a:spAutoFit/>
          </a:bodyPr>
          <a:lstStyle/>
          <a:p>
            <a:r>
              <a:rPr lang="en-US" sz="2400" b="1" dirty="0">
                <a:gradFill>
                  <a:gsLst>
                    <a:gs pos="26000">
                      <a:srgbClr val="00B0F0"/>
                    </a:gs>
                    <a:gs pos="0">
                      <a:srgbClr val="C00000"/>
                    </a:gs>
                    <a:gs pos="55000">
                      <a:srgbClr val="00B050"/>
                    </a:gs>
                    <a:gs pos="85000">
                      <a:srgbClr val="7030A0"/>
                    </a:gs>
                  </a:gsLst>
                  <a:lin ang="5400000" scaled="1"/>
                </a:gradFill>
              </a:rPr>
              <a:t>Color Blindness</a:t>
            </a:r>
            <a:r>
              <a:rPr lang="en-US" sz="2400" b="1" dirty="0"/>
              <a:t> (</a:t>
            </a:r>
            <a:r>
              <a:rPr lang="en-US" sz="2400" b="1" dirty="0">
                <a:gradFill>
                  <a:gsLst>
                    <a:gs pos="26000">
                      <a:srgbClr val="00B0F0"/>
                    </a:gs>
                    <a:gs pos="0">
                      <a:srgbClr val="C00000"/>
                    </a:gs>
                    <a:gs pos="55000">
                      <a:srgbClr val="00B050"/>
                    </a:gs>
                    <a:gs pos="85000">
                      <a:srgbClr val="7030A0"/>
                    </a:gs>
                  </a:gsLst>
                  <a:lin ang="5400000" scaled="1"/>
                </a:gradFill>
              </a:rPr>
              <a:t>CVD</a:t>
            </a:r>
            <a:r>
              <a:rPr lang="en-US" sz="2400" b="1" dirty="0"/>
              <a:t>):</a:t>
            </a:r>
            <a:r>
              <a:rPr lang="en-US" sz="2400" dirty="0"/>
              <a:t> A reduced ability to distinguish colors. Designers should avoid relying on color </a:t>
            </a:r>
            <a:r>
              <a:rPr lang="en-US" sz="2400" i="1" dirty="0"/>
              <a:t>alone</a:t>
            </a:r>
            <a:r>
              <a:rPr lang="en-US" sz="2400" dirty="0"/>
              <a:t> to convey information, as low </a:t>
            </a:r>
            <a:r>
              <a:rPr lang="en-US" sz="2400" b="1" dirty="0"/>
              <a:t>contrast</a:t>
            </a:r>
            <a:r>
              <a:rPr lang="en-US" sz="2400" dirty="0"/>
              <a:t> makes content inaccessible for users with CVD.</a:t>
            </a:r>
          </a:p>
        </p:txBody>
      </p:sp>
      <p:sp>
        <p:nvSpPr>
          <p:cNvPr id="19" name="TextBox 18">
            <a:extLst>
              <a:ext uri="{FF2B5EF4-FFF2-40B4-BE49-F238E27FC236}">
                <a16:creationId xmlns:a16="http://schemas.microsoft.com/office/drawing/2014/main" id="{DDC5F80C-E957-46DF-AB2F-E635A20AC476}"/>
              </a:ext>
            </a:extLst>
          </p:cNvPr>
          <p:cNvSpPr txBox="1"/>
          <p:nvPr/>
        </p:nvSpPr>
        <p:spPr>
          <a:xfrm>
            <a:off x="5887155" y="4559552"/>
            <a:ext cx="1659467"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3</a:t>
            </a:r>
          </a:p>
        </p:txBody>
      </p:sp>
    </p:spTree>
    <p:extLst>
      <p:ext uri="{BB962C8B-B14F-4D97-AF65-F5344CB8AC3E}">
        <p14:creationId xmlns:p14="http://schemas.microsoft.com/office/powerpoint/2010/main" val="366099275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CC5F68-7832-4C01-BBA7-2C6C401E49EE}"/>
              </a:ext>
            </a:extLst>
          </p:cNvPr>
          <p:cNvSpPr txBox="1"/>
          <p:nvPr/>
        </p:nvSpPr>
        <p:spPr>
          <a:xfrm>
            <a:off x="587022" y="632178"/>
            <a:ext cx="4007556"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Visual Example / Code Snippet</a:t>
            </a:r>
            <a:endParaRPr lang="en-US" sz="4000" dirty="0">
              <a:gradFill>
                <a:gsLst>
                  <a:gs pos="26000">
                    <a:srgbClr val="00B0F0"/>
                  </a:gs>
                  <a:gs pos="0">
                    <a:srgbClr val="C00000"/>
                  </a:gs>
                  <a:gs pos="55000">
                    <a:srgbClr val="00B050"/>
                  </a:gs>
                  <a:gs pos="85000">
                    <a:srgbClr val="7030A0"/>
                  </a:gs>
                </a:gsLst>
                <a:lin ang="5400000" scaled="1"/>
              </a:gradFill>
            </a:endParaRPr>
          </a:p>
        </p:txBody>
      </p:sp>
    </p:spTree>
    <p:extLst>
      <p:ext uri="{BB962C8B-B14F-4D97-AF65-F5344CB8AC3E}">
        <p14:creationId xmlns:p14="http://schemas.microsoft.com/office/powerpoint/2010/main" val="784165360"/>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CC5F68-7832-4C01-BBA7-2C6C401E49EE}"/>
              </a:ext>
            </a:extLst>
          </p:cNvPr>
          <p:cNvSpPr txBox="1"/>
          <p:nvPr/>
        </p:nvSpPr>
        <p:spPr>
          <a:xfrm>
            <a:off x="587022" y="632178"/>
            <a:ext cx="4007556"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Visual Example / Code Snippet</a:t>
            </a:r>
            <a:endParaRPr lang="en-US" sz="4000" dirty="0">
              <a:gradFill>
                <a:gsLst>
                  <a:gs pos="26000">
                    <a:srgbClr val="00B0F0"/>
                  </a:gs>
                  <a:gs pos="0">
                    <a:srgbClr val="C00000"/>
                  </a:gs>
                  <a:gs pos="55000">
                    <a:srgbClr val="00B050"/>
                  </a:gs>
                  <a:gs pos="85000">
                    <a:srgbClr val="7030A0"/>
                  </a:gs>
                </a:gsLst>
                <a:lin ang="5400000" scaled="1"/>
              </a:gradFill>
            </a:endParaRPr>
          </a:p>
        </p:txBody>
      </p:sp>
      <p:pic>
        <p:nvPicPr>
          <p:cNvPr id="8" name="Picture 7" descr="illustrates the importance of color contrast for accessibility: combinations on the left have high contrast (like dark blue text on white) and are accessible (Pass), while combinations on the right have low contrast (like light blue text on white) and are inaccessible (Fail) under WCAG standards.">
            <a:extLst>
              <a:ext uri="{FF2B5EF4-FFF2-40B4-BE49-F238E27FC236}">
                <a16:creationId xmlns:a16="http://schemas.microsoft.com/office/drawing/2014/main" id="{E6C5E833-A474-44EC-83F2-4428DE307082}"/>
              </a:ext>
            </a:extLst>
          </p:cNvPr>
          <p:cNvPicPr>
            <a:picLocks noChangeAspect="1"/>
          </p:cNvPicPr>
          <p:nvPr/>
        </p:nvPicPr>
        <p:blipFill rotWithShape="1">
          <a:blip r:embed="rId2">
            <a:extLst>
              <a:ext uri="{28A0092B-C50C-407E-A947-70E740481C1C}">
                <a14:useLocalDpi xmlns:a14="http://schemas.microsoft.com/office/drawing/2010/main" val="0"/>
              </a:ext>
            </a:extLst>
          </a:blip>
          <a:srcRect l="9671" t="23210" r="9176" b="28517"/>
          <a:stretch/>
        </p:blipFill>
        <p:spPr>
          <a:xfrm>
            <a:off x="3313289" y="2915171"/>
            <a:ext cx="5565422" cy="3310651"/>
          </a:xfrm>
          <a:prstGeom prst="rect">
            <a:avLst/>
          </a:prstGeom>
        </p:spPr>
      </p:pic>
      <p:sp>
        <p:nvSpPr>
          <p:cNvPr id="10" name="TextBox 9">
            <a:extLst>
              <a:ext uri="{FF2B5EF4-FFF2-40B4-BE49-F238E27FC236}">
                <a16:creationId xmlns:a16="http://schemas.microsoft.com/office/drawing/2014/main" id="{BA5C1EAF-45DD-4D66-8C1A-ADE75906D05E}"/>
              </a:ext>
            </a:extLst>
          </p:cNvPr>
          <p:cNvSpPr txBox="1"/>
          <p:nvPr/>
        </p:nvSpPr>
        <p:spPr>
          <a:xfrm>
            <a:off x="5510838" y="1604397"/>
            <a:ext cx="6094140" cy="830997"/>
          </a:xfrm>
          <a:prstGeom prst="rect">
            <a:avLst/>
          </a:prstGeom>
          <a:noFill/>
        </p:spPr>
        <p:txBody>
          <a:bodyPr wrap="square">
            <a:spAutoFit/>
          </a:bodyPr>
          <a:lstStyle/>
          <a:p>
            <a:r>
              <a:rPr lang="en-US" sz="4800" dirty="0"/>
              <a:t>👁️</a:t>
            </a:r>
          </a:p>
        </p:txBody>
      </p:sp>
    </p:spTree>
    <p:extLst>
      <p:ext uri="{BB962C8B-B14F-4D97-AF65-F5344CB8AC3E}">
        <p14:creationId xmlns:p14="http://schemas.microsoft.com/office/powerpoint/2010/main" val="274106885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CC5F68-7832-4C01-BBA7-2C6C401E49EE}"/>
              </a:ext>
            </a:extLst>
          </p:cNvPr>
          <p:cNvSpPr txBox="1"/>
          <p:nvPr/>
        </p:nvSpPr>
        <p:spPr>
          <a:xfrm>
            <a:off x="587022" y="632178"/>
            <a:ext cx="4007556"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Visual Example / Code Snippet</a:t>
            </a:r>
            <a:endParaRPr lang="en-US" sz="4000" dirty="0">
              <a:gradFill>
                <a:gsLst>
                  <a:gs pos="26000">
                    <a:srgbClr val="00B0F0"/>
                  </a:gs>
                  <a:gs pos="0">
                    <a:srgbClr val="C00000"/>
                  </a:gs>
                  <a:gs pos="55000">
                    <a:srgbClr val="00B050"/>
                  </a:gs>
                  <a:gs pos="85000">
                    <a:srgbClr val="7030A0"/>
                  </a:gs>
                </a:gsLst>
                <a:lin ang="5400000" scaled="1"/>
              </a:gradFill>
            </a:endParaRPr>
          </a:p>
        </p:txBody>
      </p:sp>
      <p:pic>
        <p:nvPicPr>
          <p:cNvPr id="6" name="Picture 5">
            <a:extLst>
              <a:ext uri="{FF2B5EF4-FFF2-40B4-BE49-F238E27FC236}">
                <a16:creationId xmlns:a16="http://schemas.microsoft.com/office/drawing/2014/main" id="{5352A4B3-FECA-4232-8736-5036272A747C}"/>
              </a:ext>
            </a:extLst>
          </p:cNvPr>
          <p:cNvPicPr>
            <a:picLocks noChangeAspect="1"/>
          </p:cNvPicPr>
          <p:nvPr/>
        </p:nvPicPr>
        <p:blipFill rotWithShape="1">
          <a:blip r:embed="rId2">
            <a:extLst>
              <a:ext uri="{28A0092B-C50C-407E-A947-70E740481C1C}">
                <a14:useLocalDpi xmlns:a14="http://schemas.microsoft.com/office/drawing/2010/main" val="0"/>
              </a:ext>
            </a:extLst>
          </a:blip>
          <a:srcRect l="678" b="12537"/>
          <a:stretch/>
        </p:blipFill>
        <p:spPr>
          <a:xfrm>
            <a:off x="2263698" y="2567227"/>
            <a:ext cx="7958529" cy="4149249"/>
          </a:xfrm>
          <a:prstGeom prst="rect">
            <a:avLst/>
          </a:prstGeom>
        </p:spPr>
      </p:pic>
      <p:sp>
        <p:nvSpPr>
          <p:cNvPr id="8" name="TextBox 7">
            <a:extLst>
              <a:ext uri="{FF2B5EF4-FFF2-40B4-BE49-F238E27FC236}">
                <a16:creationId xmlns:a16="http://schemas.microsoft.com/office/drawing/2014/main" id="{E786747E-09C4-4648-8262-3D0DBA370AC4}"/>
              </a:ext>
            </a:extLst>
          </p:cNvPr>
          <p:cNvSpPr txBox="1"/>
          <p:nvPr/>
        </p:nvSpPr>
        <p:spPr>
          <a:xfrm>
            <a:off x="5510838" y="1607024"/>
            <a:ext cx="6094140" cy="830997"/>
          </a:xfrm>
          <a:prstGeom prst="rect">
            <a:avLst/>
          </a:prstGeom>
          <a:noFill/>
        </p:spPr>
        <p:txBody>
          <a:bodyPr wrap="square">
            <a:spAutoFit/>
          </a:bodyPr>
          <a:lstStyle/>
          <a:p>
            <a:r>
              <a:rPr lang="en-US" sz="4800" dirty="0"/>
              <a:t>👁️</a:t>
            </a:r>
          </a:p>
        </p:txBody>
      </p:sp>
    </p:spTree>
    <p:extLst>
      <p:ext uri="{BB962C8B-B14F-4D97-AF65-F5344CB8AC3E}">
        <p14:creationId xmlns:p14="http://schemas.microsoft.com/office/powerpoint/2010/main" val="345860091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621FE4-924D-4DE6-9118-8A3DF03AC0B0}"/>
              </a:ext>
            </a:extLst>
          </p:cNvPr>
          <p:cNvSpPr txBox="1"/>
          <p:nvPr/>
        </p:nvSpPr>
        <p:spPr>
          <a:xfrm>
            <a:off x="680224" y="602166"/>
            <a:ext cx="5099687"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Common Mistakes / Tips</a:t>
            </a:r>
            <a:endParaRPr lang="en-US" sz="4000" dirty="0">
              <a:gradFill>
                <a:gsLst>
                  <a:gs pos="26000">
                    <a:srgbClr val="00B0F0"/>
                  </a:gs>
                  <a:gs pos="0">
                    <a:srgbClr val="C00000"/>
                  </a:gs>
                  <a:gs pos="55000">
                    <a:srgbClr val="00B050"/>
                  </a:gs>
                  <a:gs pos="85000">
                    <a:srgbClr val="7030A0"/>
                  </a:gs>
                </a:gsLst>
                <a:lin ang="5400000" scaled="1"/>
              </a:gradFill>
            </a:endParaRPr>
          </a:p>
        </p:txBody>
      </p:sp>
    </p:spTree>
    <p:extLst>
      <p:ext uri="{BB962C8B-B14F-4D97-AF65-F5344CB8AC3E}">
        <p14:creationId xmlns:p14="http://schemas.microsoft.com/office/powerpoint/2010/main" val="188724160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621FE4-924D-4DE6-9118-8A3DF03AC0B0}"/>
              </a:ext>
            </a:extLst>
          </p:cNvPr>
          <p:cNvSpPr txBox="1"/>
          <p:nvPr/>
        </p:nvSpPr>
        <p:spPr>
          <a:xfrm>
            <a:off x="680224" y="602166"/>
            <a:ext cx="5099687"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Common Mistakes / Tips</a:t>
            </a:r>
            <a:endParaRPr lang="en-US" sz="4000" dirty="0">
              <a:gradFill>
                <a:gsLst>
                  <a:gs pos="26000">
                    <a:srgbClr val="00B0F0"/>
                  </a:gs>
                  <a:gs pos="0">
                    <a:srgbClr val="C00000"/>
                  </a:gs>
                  <a:gs pos="55000">
                    <a:srgbClr val="00B050"/>
                  </a:gs>
                  <a:gs pos="85000">
                    <a:srgbClr val="7030A0"/>
                  </a:gs>
                </a:gsLst>
                <a:lin ang="5400000" scaled="1"/>
              </a:gradFill>
            </a:endParaRPr>
          </a:p>
        </p:txBody>
      </p:sp>
      <p:sp>
        <p:nvSpPr>
          <p:cNvPr id="2" name="TextBox 1">
            <a:extLst>
              <a:ext uri="{FF2B5EF4-FFF2-40B4-BE49-F238E27FC236}">
                <a16:creationId xmlns:a16="http://schemas.microsoft.com/office/drawing/2014/main" id="{FC260423-5904-4A46-9287-1364AC8E7A7F}"/>
              </a:ext>
            </a:extLst>
          </p:cNvPr>
          <p:cNvSpPr txBox="1"/>
          <p:nvPr/>
        </p:nvSpPr>
        <p:spPr>
          <a:xfrm>
            <a:off x="4346222" y="2111023"/>
            <a:ext cx="6005689" cy="523220"/>
          </a:xfrm>
          <a:prstGeom prst="rect">
            <a:avLst/>
          </a:prstGeom>
          <a:noFill/>
        </p:spPr>
        <p:txBody>
          <a:bodyPr wrap="square" rtlCol="0">
            <a:spAutoFit/>
          </a:bodyPr>
          <a:lstStyle/>
          <a:p>
            <a:r>
              <a:rPr lang="en-US" sz="2800" b="1">
                <a:gradFill>
                  <a:gsLst>
                    <a:gs pos="26000">
                      <a:srgbClr val="00B0F0"/>
                    </a:gs>
                    <a:gs pos="0">
                      <a:srgbClr val="C00000"/>
                    </a:gs>
                    <a:gs pos="55000">
                      <a:srgbClr val="00B050"/>
                    </a:gs>
                    <a:gs pos="85000">
                      <a:srgbClr val="7030A0"/>
                    </a:gs>
                  </a:gsLst>
                  <a:lin ang="5400000" scaled="1"/>
                </a:gradFill>
              </a:rPr>
              <a:t>Low Color Contrast</a:t>
            </a:r>
            <a:endParaRPr lang="en-US" sz="2800" b="1" dirty="0">
              <a:gradFill>
                <a:gsLst>
                  <a:gs pos="26000">
                    <a:srgbClr val="00B0F0"/>
                  </a:gs>
                  <a:gs pos="0">
                    <a:srgbClr val="C00000"/>
                  </a:gs>
                  <a:gs pos="55000">
                    <a:srgbClr val="00B050"/>
                  </a:gs>
                  <a:gs pos="85000">
                    <a:srgbClr val="7030A0"/>
                  </a:gs>
                </a:gsLst>
                <a:lin ang="5400000" scaled="1"/>
              </a:gradFill>
            </a:endParaRPr>
          </a:p>
        </p:txBody>
      </p:sp>
      <p:sp>
        <p:nvSpPr>
          <p:cNvPr id="5" name="TextBox 4">
            <a:extLst>
              <a:ext uri="{FF2B5EF4-FFF2-40B4-BE49-F238E27FC236}">
                <a16:creationId xmlns:a16="http://schemas.microsoft.com/office/drawing/2014/main" id="{C6AB6720-7DBB-46F2-8FAA-6EAF9A5C38B3}"/>
              </a:ext>
            </a:extLst>
          </p:cNvPr>
          <p:cNvSpPr txBox="1"/>
          <p:nvPr/>
        </p:nvSpPr>
        <p:spPr>
          <a:xfrm>
            <a:off x="5415776" y="1464316"/>
            <a:ext cx="6096000" cy="707886"/>
          </a:xfrm>
          <a:prstGeom prst="rect">
            <a:avLst/>
          </a:prstGeom>
          <a:noFill/>
        </p:spPr>
        <p:txBody>
          <a:bodyPr wrap="square">
            <a:spAutoFit/>
          </a:bodyPr>
          <a:lstStyle/>
          <a:p>
            <a:r>
              <a:rPr lang="en-US" sz="4000" dirty="0"/>
              <a:t>🛑</a:t>
            </a:r>
          </a:p>
        </p:txBody>
      </p:sp>
      <p:sp>
        <p:nvSpPr>
          <p:cNvPr id="6" name="TextBox 5">
            <a:extLst>
              <a:ext uri="{FF2B5EF4-FFF2-40B4-BE49-F238E27FC236}">
                <a16:creationId xmlns:a16="http://schemas.microsoft.com/office/drawing/2014/main" id="{D795A37E-9355-4691-AEEC-30089BA29B85}"/>
              </a:ext>
            </a:extLst>
          </p:cNvPr>
          <p:cNvSpPr txBox="1"/>
          <p:nvPr/>
        </p:nvSpPr>
        <p:spPr>
          <a:xfrm>
            <a:off x="1535288" y="3034352"/>
            <a:ext cx="9335911" cy="3046988"/>
          </a:xfrm>
          <a:prstGeom prst="rect">
            <a:avLst/>
          </a:prstGeom>
          <a:noFill/>
        </p:spPr>
        <p:txBody>
          <a:bodyPr wrap="square" rtlCol="0">
            <a:spAutoFit/>
          </a:bodyPr>
          <a:lstStyle/>
          <a:p>
            <a:r>
              <a:rPr lang="en-US" sz="2400" dirty="0"/>
              <a:t>This is the failure to ensure enough </a:t>
            </a:r>
            <a:r>
              <a:rPr lang="en-US" sz="2400" b="1" dirty="0">
                <a:gradFill>
                  <a:gsLst>
                    <a:gs pos="26000">
                      <a:srgbClr val="00B0F0"/>
                    </a:gs>
                    <a:gs pos="0">
                      <a:srgbClr val="C00000"/>
                    </a:gs>
                    <a:gs pos="55000">
                      <a:srgbClr val="00B050"/>
                    </a:gs>
                    <a:gs pos="85000">
                      <a:srgbClr val="7030A0"/>
                    </a:gs>
                  </a:gsLst>
                  <a:lin ang="5400000" scaled="1"/>
                </a:gradFill>
              </a:rPr>
              <a:t>difference in lightness</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between text (foreground) and its background.</a:t>
            </a:r>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The Mistake</a:t>
            </a:r>
            <a:r>
              <a:rPr lang="en-US" sz="2400" b="1" dirty="0"/>
              <a:t>:</a:t>
            </a:r>
            <a:r>
              <a:rPr lang="en-US" sz="2400" dirty="0"/>
              <a:t> Using colors that are too similar, such as light grey text on a white background, making the content unreadable for users with low vision.</a:t>
            </a:r>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How to Avoid:</a:t>
            </a:r>
            <a:r>
              <a:rPr lang="en-US" sz="2400" dirty="0">
                <a:gradFill>
                  <a:gsLst>
                    <a:gs pos="26000">
                      <a:srgbClr val="00B0F0"/>
                    </a:gs>
                    <a:gs pos="0">
                      <a:srgbClr val="C00000"/>
                    </a:gs>
                    <a:gs pos="55000">
                      <a:srgbClr val="00B050"/>
                    </a:gs>
                    <a:gs pos="85000">
                      <a:srgbClr val="7030A0"/>
                    </a:gs>
                  </a:gsLst>
                  <a:lin ang="5400000" scaled="1"/>
                </a:gradFill>
              </a:rPr>
              <a:t> </a:t>
            </a:r>
            <a:r>
              <a:rPr lang="en-US" sz="2400" b="1" dirty="0">
                <a:gradFill>
                  <a:gsLst>
                    <a:gs pos="26000">
                      <a:srgbClr val="00B0F0"/>
                    </a:gs>
                    <a:gs pos="0">
                      <a:srgbClr val="C00000"/>
                    </a:gs>
                    <a:gs pos="55000">
                      <a:srgbClr val="00B050"/>
                    </a:gs>
                    <a:gs pos="85000">
                      <a:srgbClr val="7030A0"/>
                    </a:gs>
                  </a:gsLst>
                  <a:lin ang="5400000" scaled="1"/>
                </a:gradFill>
              </a:rPr>
              <a:t>Always check the contrast ratio</a:t>
            </a:r>
            <a:r>
              <a:rPr lang="en-US" sz="2400" dirty="0"/>
              <a:t>. Use a tool to confirm your color pairs meet the </a:t>
            </a:r>
            <a:r>
              <a:rPr lang="en-US" sz="2400" b="1" dirty="0">
                <a:gradFill>
                  <a:gsLst>
                    <a:gs pos="26000">
                      <a:srgbClr val="00B0F0"/>
                    </a:gs>
                    <a:gs pos="0">
                      <a:srgbClr val="C00000"/>
                    </a:gs>
                    <a:gs pos="55000">
                      <a:srgbClr val="00B050"/>
                    </a:gs>
                    <a:gs pos="85000">
                      <a:srgbClr val="7030A0"/>
                    </a:gs>
                  </a:gsLst>
                  <a:lin ang="5400000" scaled="1"/>
                </a:gradFill>
              </a:rPr>
              <a:t>WCAG AA standard</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of at least </a:t>
            </a:r>
            <a:r>
              <a:rPr lang="en-US" sz="2400" b="1" dirty="0">
                <a:gradFill>
                  <a:gsLst>
                    <a:gs pos="26000">
                      <a:srgbClr val="00B0F0"/>
                    </a:gs>
                    <a:gs pos="0">
                      <a:srgbClr val="C00000"/>
                    </a:gs>
                    <a:gs pos="55000">
                      <a:srgbClr val="00B050"/>
                    </a:gs>
                    <a:gs pos="85000">
                      <a:srgbClr val="7030A0"/>
                    </a:gs>
                  </a:gsLst>
                  <a:lin ang="5400000" scaled="1"/>
                </a:gradFill>
              </a:rPr>
              <a:t>4</a:t>
            </a:r>
            <a:r>
              <a:rPr lang="en-US" sz="2400" b="1" dirty="0"/>
              <a:t>.</a:t>
            </a:r>
            <a:r>
              <a:rPr lang="en-US" sz="2400" b="1" dirty="0">
                <a:gradFill>
                  <a:gsLst>
                    <a:gs pos="26000">
                      <a:srgbClr val="00B0F0"/>
                    </a:gs>
                    <a:gs pos="0">
                      <a:srgbClr val="C00000"/>
                    </a:gs>
                    <a:gs pos="55000">
                      <a:srgbClr val="00B050"/>
                    </a:gs>
                    <a:gs pos="85000">
                      <a:srgbClr val="7030A0"/>
                    </a:gs>
                  </a:gsLst>
                  <a:lin ang="5400000" scaled="1"/>
                </a:gradFill>
              </a:rPr>
              <a:t>5</a:t>
            </a:r>
            <a:r>
              <a:rPr lang="en-US" sz="2400" b="1" dirty="0"/>
              <a:t>:</a:t>
            </a:r>
            <a:r>
              <a:rPr lang="en-US" sz="2400" b="1" dirty="0">
                <a:gradFill>
                  <a:gsLst>
                    <a:gs pos="26000">
                      <a:srgbClr val="00B0F0"/>
                    </a:gs>
                    <a:gs pos="0">
                      <a:srgbClr val="C00000"/>
                    </a:gs>
                    <a:gs pos="55000">
                      <a:srgbClr val="00B050"/>
                    </a:gs>
                    <a:gs pos="85000">
                      <a:srgbClr val="7030A0"/>
                    </a:gs>
                  </a:gsLst>
                  <a:lin ang="5400000" scaled="1"/>
                </a:gradFill>
              </a:rPr>
              <a:t>1</a:t>
            </a:r>
            <a:r>
              <a:rPr lang="en-US" sz="2400" dirty="0"/>
              <a:t> for normal text.+</a:t>
            </a:r>
          </a:p>
        </p:txBody>
      </p:sp>
    </p:spTree>
    <p:extLst>
      <p:ext uri="{BB962C8B-B14F-4D97-AF65-F5344CB8AC3E}">
        <p14:creationId xmlns:p14="http://schemas.microsoft.com/office/powerpoint/2010/main" val="54389851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621FE4-924D-4DE6-9118-8A3DF03AC0B0}"/>
              </a:ext>
            </a:extLst>
          </p:cNvPr>
          <p:cNvSpPr txBox="1"/>
          <p:nvPr/>
        </p:nvSpPr>
        <p:spPr>
          <a:xfrm>
            <a:off x="680224" y="602166"/>
            <a:ext cx="5099687"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Common Mistakes / Tips</a:t>
            </a:r>
            <a:endParaRPr lang="en-US" sz="4000" dirty="0">
              <a:gradFill>
                <a:gsLst>
                  <a:gs pos="26000">
                    <a:srgbClr val="00B0F0"/>
                  </a:gs>
                  <a:gs pos="0">
                    <a:srgbClr val="C00000"/>
                  </a:gs>
                  <a:gs pos="55000">
                    <a:srgbClr val="00B050"/>
                  </a:gs>
                  <a:gs pos="85000">
                    <a:srgbClr val="7030A0"/>
                  </a:gs>
                </a:gsLst>
                <a:lin ang="5400000" scaled="1"/>
              </a:gradFill>
            </a:endParaRPr>
          </a:p>
        </p:txBody>
      </p:sp>
      <p:sp>
        <p:nvSpPr>
          <p:cNvPr id="2" name="TextBox 1">
            <a:extLst>
              <a:ext uri="{FF2B5EF4-FFF2-40B4-BE49-F238E27FC236}">
                <a16:creationId xmlns:a16="http://schemas.microsoft.com/office/drawing/2014/main" id="{FC260423-5904-4A46-9287-1364AC8E7A7F}"/>
              </a:ext>
            </a:extLst>
          </p:cNvPr>
          <p:cNvSpPr txBox="1"/>
          <p:nvPr/>
        </p:nvSpPr>
        <p:spPr>
          <a:xfrm>
            <a:off x="4346222" y="2111023"/>
            <a:ext cx="6005689" cy="523220"/>
          </a:xfrm>
          <a:prstGeom prst="rect">
            <a:avLst/>
          </a:prstGeom>
          <a:noFill/>
        </p:spPr>
        <p:txBody>
          <a:bodyPr wrap="square" rtlCol="0">
            <a:spAutoFit/>
          </a:bodyPr>
          <a:lstStyle/>
          <a:p>
            <a:r>
              <a:rPr lang="en-US" sz="2800" dirty="0">
                <a:gradFill>
                  <a:gsLst>
                    <a:gs pos="26000">
                      <a:srgbClr val="00B0F0"/>
                    </a:gs>
                    <a:gs pos="0">
                      <a:srgbClr val="C00000"/>
                    </a:gs>
                    <a:gs pos="55000">
                      <a:srgbClr val="00B050"/>
                    </a:gs>
                    <a:gs pos="85000">
                      <a:srgbClr val="7030A0"/>
                    </a:gs>
                  </a:gsLst>
                  <a:lin ang="5400000" scaled="1"/>
                </a:gradFill>
              </a:rPr>
              <a:t>Relying on Color Only</a:t>
            </a:r>
            <a:endParaRPr lang="en-US" sz="2800" b="1" dirty="0">
              <a:gradFill>
                <a:gsLst>
                  <a:gs pos="26000">
                    <a:srgbClr val="00B0F0"/>
                  </a:gs>
                  <a:gs pos="0">
                    <a:srgbClr val="C00000"/>
                  </a:gs>
                  <a:gs pos="55000">
                    <a:srgbClr val="00B050"/>
                  </a:gs>
                  <a:gs pos="85000">
                    <a:srgbClr val="7030A0"/>
                  </a:gs>
                </a:gsLst>
                <a:lin ang="5400000" scaled="1"/>
              </a:gradFill>
            </a:endParaRPr>
          </a:p>
        </p:txBody>
      </p:sp>
      <p:sp>
        <p:nvSpPr>
          <p:cNvPr id="5" name="TextBox 4">
            <a:extLst>
              <a:ext uri="{FF2B5EF4-FFF2-40B4-BE49-F238E27FC236}">
                <a16:creationId xmlns:a16="http://schemas.microsoft.com/office/drawing/2014/main" id="{C6AB6720-7DBB-46F2-8FAA-6EAF9A5C38B3}"/>
              </a:ext>
            </a:extLst>
          </p:cNvPr>
          <p:cNvSpPr txBox="1"/>
          <p:nvPr/>
        </p:nvSpPr>
        <p:spPr>
          <a:xfrm>
            <a:off x="5415776" y="1464316"/>
            <a:ext cx="6096000" cy="707886"/>
          </a:xfrm>
          <a:prstGeom prst="rect">
            <a:avLst/>
          </a:prstGeom>
          <a:noFill/>
        </p:spPr>
        <p:txBody>
          <a:bodyPr wrap="square">
            <a:spAutoFit/>
          </a:bodyPr>
          <a:lstStyle/>
          <a:p>
            <a:r>
              <a:rPr lang="en-US" sz="4000" dirty="0"/>
              <a:t>🛑</a:t>
            </a:r>
          </a:p>
        </p:txBody>
      </p:sp>
      <p:sp>
        <p:nvSpPr>
          <p:cNvPr id="6" name="TextBox 5">
            <a:extLst>
              <a:ext uri="{FF2B5EF4-FFF2-40B4-BE49-F238E27FC236}">
                <a16:creationId xmlns:a16="http://schemas.microsoft.com/office/drawing/2014/main" id="{D795A37E-9355-4691-AEEC-30089BA29B85}"/>
              </a:ext>
            </a:extLst>
          </p:cNvPr>
          <p:cNvSpPr txBox="1"/>
          <p:nvPr/>
        </p:nvSpPr>
        <p:spPr>
          <a:xfrm>
            <a:off x="1535288" y="2818909"/>
            <a:ext cx="9335911" cy="3785652"/>
          </a:xfrm>
          <a:prstGeom prst="rect">
            <a:avLst/>
          </a:prstGeom>
          <a:noFill/>
        </p:spPr>
        <p:txBody>
          <a:bodyPr wrap="square" rtlCol="0">
            <a:spAutoFit/>
          </a:bodyPr>
          <a:lstStyle/>
          <a:p>
            <a:r>
              <a:rPr lang="en-US" sz="2400" dirty="0"/>
              <a:t>This mistake involves using color as </a:t>
            </a:r>
            <a:r>
              <a:rPr lang="en-US" sz="2400" dirty="0">
                <a:gradFill>
                  <a:gsLst>
                    <a:gs pos="26000">
                      <a:srgbClr val="00B0F0"/>
                    </a:gs>
                    <a:gs pos="0">
                      <a:srgbClr val="C00000"/>
                    </a:gs>
                    <a:gs pos="55000">
                      <a:srgbClr val="00B050"/>
                    </a:gs>
                    <a:gs pos="85000">
                      <a:srgbClr val="7030A0"/>
                    </a:gs>
                  </a:gsLst>
                  <a:lin ang="5400000" scaled="1"/>
                </a:gradFill>
              </a:rPr>
              <a:t>the </a:t>
            </a:r>
            <a:r>
              <a:rPr lang="en-US" sz="2400" b="1" dirty="0">
                <a:gradFill>
                  <a:gsLst>
                    <a:gs pos="26000">
                      <a:srgbClr val="00B0F0"/>
                    </a:gs>
                    <a:gs pos="0">
                      <a:srgbClr val="C00000"/>
                    </a:gs>
                    <a:gs pos="55000">
                      <a:srgbClr val="00B050"/>
                    </a:gs>
                    <a:gs pos="85000">
                      <a:srgbClr val="7030A0"/>
                    </a:gs>
                  </a:gsLst>
                  <a:lin ang="5400000" scaled="1"/>
                </a:gradFill>
              </a:rPr>
              <a:t>sole way to convey crucial information</a:t>
            </a:r>
            <a:r>
              <a:rPr lang="en-US" sz="2400" dirty="0"/>
              <a:t> or meaning.</a:t>
            </a:r>
          </a:p>
          <a:p>
            <a:endParaRPr lang="en-US" sz="2400" dirty="0"/>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The Mistake</a:t>
            </a:r>
            <a:r>
              <a:rPr lang="en-US" sz="2400" b="1" dirty="0"/>
              <a:t>:</a:t>
            </a:r>
            <a:r>
              <a:rPr lang="en-US" sz="2400" dirty="0"/>
              <a:t> Indicating a required form field with </a:t>
            </a:r>
            <a:r>
              <a:rPr lang="en-US" sz="2400" i="1" dirty="0"/>
              <a:t>only</a:t>
            </a:r>
            <a:r>
              <a:rPr lang="en-US" sz="2400" dirty="0"/>
              <a:t> a red border or marking a link by </a:t>
            </a:r>
            <a:r>
              <a:rPr lang="en-US" sz="2400" i="1" dirty="0"/>
              <a:t>only</a:t>
            </a:r>
            <a:r>
              <a:rPr lang="en-US" sz="2400" dirty="0"/>
              <a:t> changing its color, which makes the information inaccessible to users with color blindness.</a:t>
            </a:r>
          </a:p>
          <a:p>
            <a:endParaRPr lang="en-US" sz="2400" dirty="0"/>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How to Avoid:</a:t>
            </a:r>
            <a:r>
              <a:rPr lang="en-US" sz="2400" dirty="0">
                <a:gradFill>
                  <a:gsLst>
                    <a:gs pos="26000">
                      <a:srgbClr val="00B0F0"/>
                    </a:gs>
                    <a:gs pos="0">
                      <a:srgbClr val="C00000"/>
                    </a:gs>
                    <a:gs pos="55000">
                      <a:srgbClr val="00B050"/>
                    </a:gs>
                    <a:gs pos="85000">
                      <a:srgbClr val="7030A0"/>
                    </a:gs>
                  </a:gsLst>
                  <a:lin ang="5400000" scaled="1"/>
                </a:gradFill>
              </a:rPr>
              <a:t> </a:t>
            </a:r>
            <a:r>
              <a:rPr lang="en-US" sz="2400" b="1" dirty="0">
                <a:gradFill>
                  <a:gsLst>
                    <a:gs pos="26000">
                      <a:srgbClr val="00B0F0"/>
                    </a:gs>
                    <a:gs pos="0">
                      <a:srgbClr val="C00000"/>
                    </a:gs>
                    <a:gs pos="55000">
                      <a:srgbClr val="00B050"/>
                    </a:gs>
                    <a:gs pos="85000">
                      <a:srgbClr val="7030A0"/>
                    </a:gs>
                  </a:gsLst>
                  <a:lin ang="5400000" scaled="1"/>
                </a:gradFill>
              </a:rPr>
              <a:t>Use a second visual cue</a:t>
            </a:r>
            <a:r>
              <a:rPr lang="en-US" sz="2400" dirty="0"/>
              <a:t>. For errors, use </a:t>
            </a:r>
            <a:r>
              <a:rPr lang="en-US" sz="2400" b="1" dirty="0">
                <a:gradFill>
                  <a:gsLst>
                    <a:gs pos="26000">
                      <a:srgbClr val="00B0F0"/>
                    </a:gs>
                    <a:gs pos="0">
                      <a:srgbClr val="C00000"/>
                    </a:gs>
                    <a:gs pos="55000">
                      <a:srgbClr val="00B050"/>
                    </a:gs>
                    <a:gs pos="85000">
                      <a:srgbClr val="7030A0"/>
                    </a:gs>
                  </a:gsLst>
                  <a:lin ang="5400000" scaled="1"/>
                </a:gradFill>
              </a:rPr>
              <a:t>text labels</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(e.g., "Error"), </a:t>
            </a:r>
            <a:r>
              <a:rPr lang="en-US" sz="2400" b="1" dirty="0">
                <a:gradFill>
                  <a:gsLst>
                    <a:gs pos="26000">
                      <a:srgbClr val="00B0F0"/>
                    </a:gs>
                    <a:gs pos="0">
                      <a:srgbClr val="C00000"/>
                    </a:gs>
                    <a:gs pos="55000">
                      <a:srgbClr val="00B050"/>
                    </a:gs>
                    <a:gs pos="85000">
                      <a:srgbClr val="7030A0"/>
                    </a:gs>
                  </a:gsLst>
                  <a:lin ang="5400000" scaled="1"/>
                </a:gradFill>
              </a:rPr>
              <a:t>icons</a:t>
            </a:r>
            <a:r>
              <a:rPr lang="en-US" sz="2400" dirty="0"/>
              <a:t>, or </a:t>
            </a:r>
            <a:r>
              <a:rPr lang="en-US" sz="2400" b="1" dirty="0">
                <a:gradFill>
                  <a:gsLst>
                    <a:gs pos="26000">
                      <a:srgbClr val="00B0F0"/>
                    </a:gs>
                    <a:gs pos="0">
                      <a:srgbClr val="C00000"/>
                    </a:gs>
                    <a:gs pos="55000">
                      <a:srgbClr val="00B050"/>
                    </a:gs>
                    <a:gs pos="85000">
                      <a:srgbClr val="7030A0"/>
                    </a:gs>
                  </a:gsLst>
                  <a:lin ang="5400000" scaled="1"/>
                </a:gradFill>
              </a:rPr>
              <a:t>bolding</a:t>
            </a:r>
            <a:r>
              <a:rPr lang="en-US" sz="2400" dirty="0"/>
              <a:t>. For links, ensure they are </a:t>
            </a:r>
            <a:r>
              <a:rPr lang="en-US" sz="2400" b="1" dirty="0">
                <a:gradFill>
                  <a:gsLst>
                    <a:gs pos="26000">
                      <a:srgbClr val="00B0F0"/>
                    </a:gs>
                    <a:gs pos="0">
                      <a:srgbClr val="C00000"/>
                    </a:gs>
                    <a:gs pos="55000">
                      <a:srgbClr val="00B050"/>
                    </a:gs>
                    <a:gs pos="85000">
                      <a:srgbClr val="7030A0"/>
                    </a:gs>
                  </a:gsLst>
                  <a:lin ang="5400000" scaled="1"/>
                </a:gradFill>
              </a:rPr>
              <a:t>underlined</a:t>
            </a:r>
            <a:r>
              <a:rPr lang="en-US" sz="2400" dirty="0"/>
              <a:t> or have another non-color style change.</a:t>
            </a:r>
          </a:p>
        </p:txBody>
      </p:sp>
    </p:spTree>
    <p:extLst>
      <p:ext uri="{BB962C8B-B14F-4D97-AF65-F5344CB8AC3E}">
        <p14:creationId xmlns:p14="http://schemas.microsoft.com/office/powerpoint/2010/main" val="377058614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621FE4-924D-4DE6-9118-8A3DF03AC0B0}"/>
              </a:ext>
            </a:extLst>
          </p:cNvPr>
          <p:cNvSpPr txBox="1"/>
          <p:nvPr/>
        </p:nvSpPr>
        <p:spPr>
          <a:xfrm>
            <a:off x="680224" y="602166"/>
            <a:ext cx="5099687" cy="1323439"/>
          </a:xfrm>
          <a:prstGeom prst="rect">
            <a:avLst/>
          </a:prstGeom>
          <a:noFill/>
        </p:spPr>
        <p:txBody>
          <a:bodyPr wrap="square" rtlCol="0">
            <a:spAutoFit/>
          </a:bodyPr>
          <a:lstStyle/>
          <a:p>
            <a:r>
              <a:rPr lang="en-US" sz="4000" i="0" dirty="0">
                <a:gradFill>
                  <a:gsLst>
                    <a:gs pos="26000">
                      <a:srgbClr val="00B0F0"/>
                    </a:gs>
                    <a:gs pos="0">
                      <a:srgbClr val="C00000"/>
                    </a:gs>
                    <a:gs pos="55000">
                      <a:srgbClr val="00B050"/>
                    </a:gs>
                    <a:gs pos="85000">
                      <a:srgbClr val="7030A0"/>
                    </a:gs>
                  </a:gsLst>
                  <a:lin ang="5400000" scaled="1"/>
                </a:gradFill>
                <a:effectLst/>
                <a:latin typeface="-apple-system"/>
              </a:rPr>
              <a:t>Common Mistakes / Tips</a:t>
            </a:r>
            <a:endParaRPr lang="en-US" sz="4000" dirty="0">
              <a:gradFill>
                <a:gsLst>
                  <a:gs pos="26000">
                    <a:srgbClr val="00B0F0"/>
                  </a:gs>
                  <a:gs pos="0">
                    <a:srgbClr val="C00000"/>
                  </a:gs>
                  <a:gs pos="55000">
                    <a:srgbClr val="00B050"/>
                  </a:gs>
                  <a:gs pos="85000">
                    <a:srgbClr val="7030A0"/>
                  </a:gs>
                </a:gsLst>
                <a:lin ang="5400000" scaled="1"/>
              </a:gradFill>
            </a:endParaRPr>
          </a:p>
        </p:txBody>
      </p:sp>
      <p:sp>
        <p:nvSpPr>
          <p:cNvPr id="2" name="TextBox 1">
            <a:extLst>
              <a:ext uri="{FF2B5EF4-FFF2-40B4-BE49-F238E27FC236}">
                <a16:creationId xmlns:a16="http://schemas.microsoft.com/office/drawing/2014/main" id="{FC260423-5904-4A46-9287-1364AC8E7A7F}"/>
              </a:ext>
            </a:extLst>
          </p:cNvPr>
          <p:cNvSpPr txBox="1"/>
          <p:nvPr/>
        </p:nvSpPr>
        <p:spPr>
          <a:xfrm>
            <a:off x="3200398" y="2172202"/>
            <a:ext cx="6005689" cy="523220"/>
          </a:xfrm>
          <a:prstGeom prst="rect">
            <a:avLst/>
          </a:prstGeom>
          <a:noFill/>
        </p:spPr>
        <p:txBody>
          <a:bodyPr wrap="square" rtlCol="0">
            <a:spAutoFit/>
          </a:bodyPr>
          <a:lstStyle/>
          <a:p>
            <a:r>
              <a:rPr lang="en-US" sz="2800" dirty="0">
                <a:gradFill>
                  <a:gsLst>
                    <a:gs pos="26000">
                      <a:srgbClr val="00B0F0"/>
                    </a:gs>
                    <a:gs pos="0">
                      <a:srgbClr val="C00000"/>
                    </a:gs>
                    <a:gs pos="55000">
                      <a:srgbClr val="00B050"/>
                    </a:gs>
                    <a:gs pos="85000">
                      <a:srgbClr val="7030A0"/>
                    </a:gs>
                  </a:gsLst>
                  <a:lin ang="5400000" scaled="1"/>
                </a:gradFill>
              </a:rPr>
              <a:t>Ignoring Non-Text &amp; Focus Contrast</a:t>
            </a:r>
            <a:endParaRPr lang="en-US" sz="2800" b="1" dirty="0">
              <a:gradFill>
                <a:gsLst>
                  <a:gs pos="26000">
                    <a:srgbClr val="00B0F0"/>
                  </a:gs>
                  <a:gs pos="0">
                    <a:srgbClr val="C00000"/>
                  </a:gs>
                  <a:gs pos="55000">
                    <a:srgbClr val="00B050"/>
                  </a:gs>
                  <a:gs pos="85000">
                    <a:srgbClr val="7030A0"/>
                  </a:gs>
                </a:gsLst>
                <a:lin ang="5400000" scaled="1"/>
              </a:gradFill>
            </a:endParaRPr>
          </a:p>
        </p:txBody>
      </p:sp>
      <p:sp>
        <p:nvSpPr>
          <p:cNvPr id="5" name="TextBox 4">
            <a:extLst>
              <a:ext uri="{FF2B5EF4-FFF2-40B4-BE49-F238E27FC236}">
                <a16:creationId xmlns:a16="http://schemas.microsoft.com/office/drawing/2014/main" id="{C6AB6720-7DBB-46F2-8FAA-6EAF9A5C38B3}"/>
              </a:ext>
            </a:extLst>
          </p:cNvPr>
          <p:cNvSpPr txBox="1"/>
          <p:nvPr/>
        </p:nvSpPr>
        <p:spPr>
          <a:xfrm>
            <a:off x="5415776" y="1464316"/>
            <a:ext cx="6096000" cy="707886"/>
          </a:xfrm>
          <a:prstGeom prst="rect">
            <a:avLst/>
          </a:prstGeom>
          <a:noFill/>
        </p:spPr>
        <p:txBody>
          <a:bodyPr wrap="square">
            <a:spAutoFit/>
          </a:bodyPr>
          <a:lstStyle/>
          <a:p>
            <a:r>
              <a:rPr lang="en-US" sz="4000" dirty="0"/>
              <a:t>🛑</a:t>
            </a:r>
          </a:p>
        </p:txBody>
      </p:sp>
      <p:sp>
        <p:nvSpPr>
          <p:cNvPr id="6" name="TextBox 5">
            <a:extLst>
              <a:ext uri="{FF2B5EF4-FFF2-40B4-BE49-F238E27FC236}">
                <a16:creationId xmlns:a16="http://schemas.microsoft.com/office/drawing/2014/main" id="{D795A37E-9355-4691-AEEC-30089BA29B85}"/>
              </a:ext>
            </a:extLst>
          </p:cNvPr>
          <p:cNvSpPr txBox="1"/>
          <p:nvPr/>
        </p:nvSpPr>
        <p:spPr>
          <a:xfrm>
            <a:off x="1535286" y="2942019"/>
            <a:ext cx="9335911" cy="378565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This is when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interactive element contrast</a:t>
            </a:r>
            <a:r>
              <a:rPr kumimoji="0" lang="en-US" altLang="en-US" sz="2400" b="0"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(like input borders and icons) and the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focus indicator</a:t>
            </a:r>
            <a:r>
              <a:rPr kumimoji="0" lang="en-US" altLang="en-US" sz="2400" b="0"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aren't visible enough.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The Mistake</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Using low-contrast borders on input fields or an outline that is too faint when a user tabs to a button, which hinders keyboard navigation.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How to Avoid</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Ensure all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UI components</a:t>
            </a:r>
            <a:r>
              <a:rPr kumimoji="0" lang="en-US" altLang="en-US" sz="2400" b="0"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and their </a:t>
            </a:r>
            <a:r>
              <a:rPr kumimoji="0" lang="en-US" altLang="en-US" sz="1100" b="1" i="0" u="none" strike="noStrike" cap="none" normalizeH="0" baseline="0" dirty="0">
                <a:ln>
                  <a:noFill/>
                </a:ln>
                <a:solidFill>
                  <a:schemeClr val="tx1"/>
                </a:solidFill>
                <a:effectLst/>
                <a:latin typeface="Arial Unicode MS"/>
              </a:rPr>
              <a:t>:focus</a:t>
            </a:r>
            <a:r>
              <a:rPr kumimoji="0" lang="en-US" altLang="en-US" sz="1050" b="1" i="0" u="none" strike="noStrike" cap="none" normalizeH="0" baseline="0" dirty="0">
                <a:ln>
                  <a:noFill/>
                </a:ln>
                <a:solidFill>
                  <a:schemeClr val="tx1"/>
                </a:solidFill>
                <a:effectLst/>
              </a:rPr>
              <a:t> states</a:t>
            </a:r>
            <a:r>
              <a:rPr kumimoji="0" lang="en-US" altLang="en-US" sz="2400" b="0" i="0" u="none" strike="noStrike" cap="none" normalizeH="0" baseline="0" dirty="0">
                <a:ln>
                  <a:noFill/>
                </a:ln>
                <a:solidFill>
                  <a:schemeClr val="tx1"/>
                </a:solidFill>
                <a:effectLst/>
                <a:latin typeface="Arial" panose="020B0604020202020204" pitchFamily="34" charset="0"/>
              </a:rPr>
              <a:t> meet a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3</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1</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contrast ratio</a:t>
            </a:r>
            <a:r>
              <a:rPr kumimoji="0" lang="en-US" altLang="en-US" sz="2400" b="0" i="0" u="none" strike="noStrike" cap="none" normalizeH="0" baseline="0" dirty="0">
                <a:ln>
                  <a:noFill/>
                </a:ln>
                <a:gradFill>
                  <a:gsLst>
                    <a:gs pos="26000">
                      <a:srgbClr val="00B0F0"/>
                    </a:gs>
                    <a:gs pos="0">
                      <a:srgbClr val="C00000"/>
                    </a:gs>
                    <a:gs pos="55000">
                      <a:srgbClr val="00B050"/>
                    </a:gs>
                    <a:gs pos="85000">
                      <a:srgbClr val="7030A0"/>
                    </a:gs>
                  </a:gsLst>
                  <a:lin ang="5400000" scaled="1"/>
                </a:gra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against the background so users can clearly see what element they are interacting with.</a:t>
            </a:r>
          </a:p>
        </p:txBody>
      </p:sp>
    </p:spTree>
    <p:extLst>
      <p:ext uri="{BB962C8B-B14F-4D97-AF65-F5344CB8AC3E}">
        <p14:creationId xmlns:p14="http://schemas.microsoft.com/office/powerpoint/2010/main" val="47409559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794B4A-C82A-48AD-980C-7F764F440E9F}"/>
              </a:ext>
            </a:extLst>
          </p:cNvPr>
          <p:cNvSpPr txBox="1"/>
          <p:nvPr/>
        </p:nvSpPr>
        <p:spPr>
          <a:xfrm>
            <a:off x="674370" y="640080"/>
            <a:ext cx="528447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Takeaway</a:t>
            </a:r>
          </a:p>
        </p:txBody>
      </p:sp>
    </p:spTree>
    <p:extLst>
      <p:ext uri="{BB962C8B-B14F-4D97-AF65-F5344CB8AC3E}">
        <p14:creationId xmlns:p14="http://schemas.microsoft.com/office/powerpoint/2010/main" val="3312861908"/>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794B4A-C82A-48AD-980C-7F764F440E9F}"/>
              </a:ext>
            </a:extLst>
          </p:cNvPr>
          <p:cNvSpPr txBox="1"/>
          <p:nvPr/>
        </p:nvSpPr>
        <p:spPr>
          <a:xfrm>
            <a:off x="674370" y="640080"/>
            <a:ext cx="528447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Takeaway</a:t>
            </a:r>
          </a:p>
        </p:txBody>
      </p:sp>
      <p:sp>
        <p:nvSpPr>
          <p:cNvPr id="6" name="TextBox 5">
            <a:extLst>
              <a:ext uri="{FF2B5EF4-FFF2-40B4-BE49-F238E27FC236}">
                <a16:creationId xmlns:a16="http://schemas.microsoft.com/office/drawing/2014/main" id="{C2DDEFE3-8BAE-4A7C-ADDC-7BE276F894E9}"/>
              </a:ext>
            </a:extLst>
          </p:cNvPr>
          <p:cNvSpPr txBox="1"/>
          <p:nvPr/>
        </p:nvSpPr>
        <p:spPr>
          <a:xfrm>
            <a:off x="1988820" y="2514600"/>
            <a:ext cx="8549640" cy="830997"/>
          </a:xfrm>
          <a:prstGeom prst="rect">
            <a:avLst/>
          </a:prstGeom>
          <a:noFill/>
        </p:spPr>
        <p:txBody>
          <a:bodyPr wrap="square" rtlCol="0">
            <a:spAutoFit/>
          </a:bodyPr>
          <a:lstStyle/>
          <a:p>
            <a:r>
              <a:rPr lang="en-US" sz="2400" dirty="0"/>
              <a:t>This topic is </a:t>
            </a:r>
            <a:r>
              <a:rPr lang="en-US" sz="2400" b="1" dirty="0">
                <a:gradFill>
                  <a:gsLst>
                    <a:gs pos="26000">
                      <a:srgbClr val="00B0F0"/>
                    </a:gs>
                    <a:gs pos="0">
                      <a:srgbClr val="C00000"/>
                    </a:gs>
                    <a:gs pos="55000">
                      <a:srgbClr val="00B050"/>
                    </a:gs>
                    <a:gs pos="85000">
                      <a:srgbClr val="7030A0"/>
                    </a:gs>
                  </a:gsLst>
                  <a:lin ang="5400000" scaled="1"/>
                </a:gradFill>
              </a:rPr>
              <a:t>crucial</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because it ensures </a:t>
            </a:r>
            <a:r>
              <a:rPr lang="en-US" sz="2400" b="1" dirty="0">
                <a:gradFill>
                  <a:gsLst>
                    <a:gs pos="26000">
                      <a:srgbClr val="00B0F0"/>
                    </a:gs>
                    <a:gs pos="0">
                      <a:srgbClr val="C00000"/>
                    </a:gs>
                    <a:gs pos="55000">
                      <a:srgbClr val="00B050"/>
                    </a:gs>
                    <a:gs pos="85000">
                      <a:srgbClr val="7030A0"/>
                    </a:gs>
                  </a:gsLst>
                  <a:lin ang="5400000" scaled="1"/>
                </a:gradFill>
              </a:rPr>
              <a:t>readability and usability</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for all users, fulfilling legal and ethical accessibility standards (</a:t>
            </a:r>
            <a:r>
              <a:rPr lang="en-US" sz="2400" dirty="0">
                <a:gradFill>
                  <a:gsLst>
                    <a:gs pos="26000">
                      <a:srgbClr val="00B0F0"/>
                    </a:gs>
                    <a:gs pos="0">
                      <a:srgbClr val="C00000"/>
                    </a:gs>
                    <a:gs pos="55000">
                      <a:srgbClr val="00B050"/>
                    </a:gs>
                    <a:gs pos="85000">
                      <a:srgbClr val="7030A0"/>
                    </a:gs>
                  </a:gsLst>
                  <a:lin ang="5400000" scaled="1"/>
                </a:gradFill>
              </a:rPr>
              <a:t>WCAG</a:t>
            </a:r>
            <a:r>
              <a:rPr lang="en-US" sz="2400" dirty="0"/>
              <a:t>).</a:t>
            </a:r>
          </a:p>
        </p:txBody>
      </p:sp>
      <p:sp>
        <p:nvSpPr>
          <p:cNvPr id="7" name="TextBox 6">
            <a:extLst>
              <a:ext uri="{FF2B5EF4-FFF2-40B4-BE49-F238E27FC236}">
                <a16:creationId xmlns:a16="http://schemas.microsoft.com/office/drawing/2014/main" id="{8FDE6C2C-1747-4828-A1FD-136E4F1BCA24}"/>
              </a:ext>
            </a:extLst>
          </p:cNvPr>
          <p:cNvSpPr txBox="1"/>
          <p:nvPr/>
        </p:nvSpPr>
        <p:spPr>
          <a:xfrm>
            <a:off x="5343528" y="1415772"/>
            <a:ext cx="6097904" cy="830997"/>
          </a:xfrm>
          <a:prstGeom prst="rect">
            <a:avLst/>
          </a:prstGeom>
          <a:noFill/>
        </p:spPr>
        <p:txBody>
          <a:bodyPr wrap="square">
            <a:spAutoFit/>
          </a:bodyPr>
          <a:lstStyle/>
          <a:p>
            <a:r>
              <a:rPr lang="en-US" sz="4800" dirty="0"/>
              <a:t>🚀</a:t>
            </a:r>
          </a:p>
        </p:txBody>
      </p:sp>
      <p:sp>
        <p:nvSpPr>
          <p:cNvPr id="3" name="TextBox 2">
            <a:extLst>
              <a:ext uri="{FF2B5EF4-FFF2-40B4-BE49-F238E27FC236}">
                <a16:creationId xmlns:a16="http://schemas.microsoft.com/office/drawing/2014/main" id="{144E1A6E-40F1-4EFA-A0FD-E50369DC4D71}"/>
              </a:ext>
            </a:extLst>
          </p:cNvPr>
          <p:cNvSpPr txBox="1"/>
          <p:nvPr/>
        </p:nvSpPr>
        <p:spPr>
          <a:xfrm>
            <a:off x="8392480" y="0"/>
            <a:ext cx="4077650" cy="369332"/>
          </a:xfrm>
          <a:prstGeom prst="rect">
            <a:avLst/>
          </a:prstGeom>
          <a:noFill/>
        </p:spPr>
        <p:txBody>
          <a:bodyPr wrap="square" rtlCol="0">
            <a:spAutoFit/>
          </a:bodyPr>
          <a:lstStyle/>
          <a:p>
            <a:r>
              <a:rPr lang="en-US" dirty="0">
                <a:gradFill>
                  <a:gsLst>
                    <a:gs pos="26000">
                      <a:srgbClr val="00B0F0"/>
                    </a:gs>
                    <a:gs pos="0">
                      <a:srgbClr val="C00000"/>
                    </a:gs>
                    <a:gs pos="55000">
                      <a:srgbClr val="00B050"/>
                    </a:gs>
                    <a:gs pos="85000">
                      <a:srgbClr val="7030A0"/>
                    </a:gs>
                  </a:gsLst>
                  <a:lin ang="5400000" scaled="1"/>
                </a:gradFill>
              </a:rPr>
              <a:t>Web content accessibility guidelines</a:t>
            </a:r>
          </a:p>
        </p:txBody>
      </p:sp>
    </p:spTree>
    <p:extLst>
      <p:ext uri="{BB962C8B-B14F-4D97-AF65-F5344CB8AC3E}">
        <p14:creationId xmlns:p14="http://schemas.microsoft.com/office/powerpoint/2010/main" val="180459135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794B4A-C82A-48AD-980C-7F764F440E9F}"/>
              </a:ext>
            </a:extLst>
          </p:cNvPr>
          <p:cNvSpPr txBox="1"/>
          <p:nvPr/>
        </p:nvSpPr>
        <p:spPr>
          <a:xfrm>
            <a:off x="674370" y="640080"/>
            <a:ext cx="5284470" cy="707886"/>
          </a:xfrm>
          <a:prstGeom prst="rect">
            <a:avLst/>
          </a:prstGeom>
          <a:noFill/>
        </p:spPr>
        <p:txBody>
          <a:bodyPr wrap="square" rtlCol="0">
            <a:spAutoFit/>
          </a:bodyPr>
          <a:lstStyle/>
          <a:p>
            <a:r>
              <a:rPr lang="en-US" sz="4000" dirty="0">
                <a:gradFill>
                  <a:gsLst>
                    <a:gs pos="26000">
                      <a:srgbClr val="00B0F0"/>
                    </a:gs>
                    <a:gs pos="0">
                      <a:srgbClr val="C00000"/>
                    </a:gs>
                    <a:gs pos="55000">
                      <a:srgbClr val="00B050"/>
                    </a:gs>
                    <a:gs pos="85000">
                      <a:srgbClr val="7030A0"/>
                    </a:gs>
                  </a:gsLst>
                  <a:lin ang="5400000" scaled="1"/>
                </a:gradFill>
              </a:rPr>
              <a:t>Key Takeaway</a:t>
            </a:r>
          </a:p>
        </p:txBody>
      </p:sp>
      <p:sp>
        <p:nvSpPr>
          <p:cNvPr id="7" name="TextBox 6">
            <a:extLst>
              <a:ext uri="{FF2B5EF4-FFF2-40B4-BE49-F238E27FC236}">
                <a16:creationId xmlns:a16="http://schemas.microsoft.com/office/drawing/2014/main" id="{8FDE6C2C-1747-4828-A1FD-136E4F1BCA24}"/>
              </a:ext>
            </a:extLst>
          </p:cNvPr>
          <p:cNvSpPr txBox="1"/>
          <p:nvPr/>
        </p:nvSpPr>
        <p:spPr>
          <a:xfrm>
            <a:off x="5343528" y="1415772"/>
            <a:ext cx="6097904" cy="830997"/>
          </a:xfrm>
          <a:prstGeom prst="rect">
            <a:avLst/>
          </a:prstGeom>
          <a:noFill/>
        </p:spPr>
        <p:txBody>
          <a:bodyPr wrap="square">
            <a:spAutoFit/>
          </a:bodyPr>
          <a:lstStyle/>
          <a:p>
            <a:r>
              <a:rPr lang="en-US" sz="4800" dirty="0"/>
              <a:t>🚀</a:t>
            </a:r>
          </a:p>
        </p:txBody>
      </p:sp>
      <p:sp>
        <p:nvSpPr>
          <p:cNvPr id="8" name="TextBox 7">
            <a:extLst>
              <a:ext uri="{FF2B5EF4-FFF2-40B4-BE49-F238E27FC236}">
                <a16:creationId xmlns:a16="http://schemas.microsoft.com/office/drawing/2014/main" id="{66D985A4-798A-4118-A445-2D7CF64CF1F1}"/>
              </a:ext>
            </a:extLst>
          </p:cNvPr>
          <p:cNvSpPr txBox="1"/>
          <p:nvPr/>
        </p:nvSpPr>
        <p:spPr>
          <a:xfrm>
            <a:off x="1481140" y="2314575"/>
            <a:ext cx="9960292" cy="4154984"/>
          </a:xfrm>
          <a:prstGeom prst="rect">
            <a:avLst/>
          </a:prstGeom>
          <a:noFill/>
        </p:spPr>
        <p:txBody>
          <a:bodyPr wrap="square">
            <a:spAutoFit/>
          </a:bodyPr>
          <a:lstStyle/>
          <a:p>
            <a:r>
              <a:rPr lang="en-US" sz="2400" dirty="0"/>
              <a:t>This is a </a:t>
            </a:r>
            <a:r>
              <a:rPr lang="en-US" sz="2400" b="1" dirty="0">
                <a:gradFill>
                  <a:gsLst>
                    <a:gs pos="26000">
                      <a:srgbClr val="00B0F0"/>
                    </a:gs>
                    <a:gs pos="0">
                      <a:srgbClr val="C00000"/>
                    </a:gs>
                    <a:gs pos="55000">
                      <a:srgbClr val="00B050"/>
                    </a:gs>
                    <a:gs pos="85000">
                      <a:srgbClr val="7030A0"/>
                    </a:gs>
                  </a:gsLst>
                  <a:lin ang="5400000" scaled="1"/>
                </a:gradFill>
              </a:rPr>
              <a:t>foundational skill</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that impacts:</a:t>
            </a:r>
          </a:p>
          <a:p>
            <a:endParaRPr lang="en-US" sz="2400" dirty="0"/>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Design Systems</a:t>
            </a:r>
            <a:r>
              <a:rPr lang="en-US" sz="2400" b="1" dirty="0"/>
              <a:t>:</a:t>
            </a:r>
            <a:r>
              <a:rPr lang="en-US" sz="2400" dirty="0"/>
              <a:t> Essential for defining accessible, high-contrast </a:t>
            </a:r>
            <a:r>
              <a:rPr lang="en-US" sz="2400" b="1" dirty="0"/>
              <a:t>color palettes</a:t>
            </a:r>
            <a:r>
              <a:rPr lang="en-US" sz="2400" dirty="0"/>
              <a:t> used in component libraries.</a:t>
            </a:r>
          </a:p>
          <a:p>
            <a:pPr>
              <a:buFont typeface="Arial" panose="020B0604020202020204" pitchFamily="34" charset="0"/>
              <a:buChar char="•"/>
            </a:pPr>
            <a:endParaRPr lang="en-US" sz="2400" dirty="0"/>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UI/UX Design</a:t>
            </a:r>
            <a:r>
              <a:rPr lang="en-US" sz="2400" b="1" dirty="0"/>
              <a:t>:</a:t>
            </a:r>
            <a:r>
              <a:rPr lang="en-US" sz="2400" dirty="0"/>
              <a:t> Core to designing effective interfaces where color is used correctly for </a:t>
            </a:r>
            <a:r>
              <a:rPr lang="en-US" sz="2400" b="1" dirty="0">
                <a:gradFill>
                  <a:gsLst>
                    <a:gs pos="26000">
                      <a:srgbClr val="00B0F0"/>
                    </a:gs>
                    <a:gs pos="0">
                      <a:srgbClr val="C00000"/>
                    </a:gs>
                    <a:gs pos="55000">
                      <a:srgbClr val="00B050"/>
                    </a:gs>
                    <a:gs pos="85000">
                      <a:srgbClr val="7030A0"/>
                    </a:gs>
                  </a:gsLst>
                  <a:lin ang="5400000" scaled="1"/>
                </a:gradFill>
              </a:rPr>
              <a:t>status</a:t>
            </a:r>
            <a:r>
              <a:rPr lang="en-US" sz="2400" dirty="0">
                <a:gradFill>
                  <a:gsLst>
                    <a:gs pos="26000">
                      <a:srgbClr val="00B0F0"/>
                    </a:gs>
                    <a:gs pos="0">
                      <a:srgbClr val="C00000"/>
                    </a:gs>
                    <a:gs pos="55000">
                      <a:srgbClr val="00B050"/>
                    </a:gs>
                    <a:gs pos="85000">
                      <a:srgbClr val="7030A0"/>
                    </a:gs>
                  </a:gsLst>
                  <a:lin ang="5400000" scaled="1"/>
                </a:gradFill>
              </a:rPr>
              <a:t> and </a:t>
            </a:r>
            <a:r>
              <a:rPr lang="en-US" sz="2400" b="1" dirty="0">
                <a:gradFill>
                  <a:gsLst>
                    <a:gs pos="26000">
                      <a:srgbClr val="00B0F0"/>
                    </a:gs>
                    <a:gs pos="0">
                      <a:srgbClr val="C00000"/>
                    </a:gs>
                    <a:gs pos="55000">
                      <a:srgbClr val="00B050"/>
                    </a:gs>
                    <a:gs pos="85000">
                      <a:srgbClr val="7030A0"/>
                    </a:gs>
                  </a:gsLst>
                  <a:lin ang="5400000" scaled="1"/>
                </a:gradFill>
              </a:rPr>
              <a:t>interaction</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(e.g., links, errors) without relying on it solely.</a:t>
            </a:r>
          </a:p>
          <a:p>
            <a:pPr>
              <a:buFont typeface="Arial" panose="020B0604020202020204" pitchFamily="34" charset="0"/>
              <a:buChar char="•"/>
            </a:pPr>
            <a:endParaRPr lang="en-US" sz="2400" dirty="0"/>
          </a:p>
          <a:p>
            <a:pPr>
              <a:buFont typeface="Arial" panose="020B0604020202020204" pitchFamily="34" charset="0"/>
              <a:buChar char="•"/>
            </a:pPr>
            <a:r>
              <a:rPr lang="en-US" sz="2400" b="1" dirty="0">
                <a:gradFill>
                  <a:gsLst>
                    <a:gs pos="26000">
                      <a:srgbClr val="00B0F0"/>
                    </a:gs>
                    <a:gs pos="0">
                      <a:srgbClr val="C00000"/>
                    </a:gs>
                    <a:gs pos="55000">
                      <a:srgbClr val="00B050"/>
                    </a:gs>
                    <a:gs pos="85000">
                      <a:srgbClr val="7030A0"/>
                    </a:gs>
                  </a:gsLst>
                  <a:lin ang="5400000" scaled="1"/>
                </a:gradFill>
              </a:rPr>
              <a:t>Advanced CSS:</a:t>
            </a:r>
            <a:r>
              <a:rPr lang="en-US" sz="2400" dirty="0">
                <a:gradFill>
                  <a:gsLst>
                    <a:gs pos="26000">
                      <a:srgbClr val="00B0F0"/>
                    </a:gs>
                    <a:gs pos="0">
                      <a:srgbClr val="C00000"/>
                    </a:gs>
                    <a:gs pos="55000">
                      <a:srgbClr val="00B050"/>
                    </a:gs>
                    <a:gs pos="85000">
                      <a:srgbClr val="7030A0"/>
                    </a:gs>
                  </a:gsLst>
                  <a:lin ang="5400000" scaled="1"/>
                </a:gradFill>
              </a:rPr>
              <a:t> </a:t>
            </a:r>
            <a:r>
              <a:rPr lang="en-US" sz="2400" dirty="0"/>
              <a:t>Necessary when implementing features like </a:t>
            </a:r>
            <a:r>
              <a:rPr lang="en-US" sz="2400" b="1" dirty="0">
                <a:gradFill>
                  <a:gsLst>
                    <a:gs pos="26000">
                      <a:srgbClr val="00B0F0"/>
                    </a:gs>
                    <a:gs pos="0">
                      <a:srgbClr val="C00000"/>
                    </a:gs>
                    <a:gs pos="55000">
                      <a:srgbClr val="00B050"/>
                    </a:gs>
                    <a:gs pos="85000">
                      <a:srgbClr val="7030A0"/>
                    </a:gs>
                  </a:gsLst>
                  <a:lin ang="5400000" scaled="1"/>
                </a:gradFill>
              </a:rPr>
              <a:t>dark mode</a:t>
            </a:r>
            <a:r>
              <a:rPr lang="en-US" sz="2400" dirty="0"/>
              <a:t>, which requires managing multiple, accessible color themes, often with </a:t>
            </a:r>
            <a:r>
              <a:rPr lang="en-US" sz="2400" b="1" dirty="0">
                <a:gradFill>
                  <a:gsLst>
                    <a:gs pos="26000">
                      <a:srgbClr val="00B0F0"/>
                    </a:gs>
                    <a:gs pos="0">
                      <a:srgbClr val="C00000"/>
                    </a:gs>
                    <a:gs pos="55000">
                      <a:srgbClr val="00B050"/>
                    </a:gs>
                    <a:gs pos="85000">
                      <a:srgbClr val="7030A0"/>
                    </a:gs>
                  </a:gsLst>
                  <a:lin ang="5400000" scaled="1"/>
                </a:gradFill>
              </a:rPr>
              <a:t>CSS variables</a:t>
            </a:r>
            <a:r>
              <a:rPr lang="en-US" sz="2400" dirty="0"/>
              <a:t>.</a:t>
            </a:r>
          </a:p>
        </p:txBody>
      </p:sp>
    </p:spTree>
    <p:extLst>
      <p:ext uri="{BB962C8B-B14F-4D97-AF65-F5344CB8AC3E}">
        <p14:creationId xmlns:p14="http://schemas.microsoft.com/office/powerpoint/2010/main" val="268056556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B9A759-29EE-4E14-AF75-688A8CEE1327}"/>
              </a:ext>
            </a:extLst>
          </p:cNvPr>
          <p:cNvSpPr txBox="1"/>
          <p:nvPr/>
        </p:nvSpPr>
        <p:spPr>
          <a:xfrm>
            <a:off x="3555358" y="2364478"/>
            <a:ext cx="7984503" cy="1569660"/>
          </a:xfrm>
          <a:prstGeom prst="rect">
            <a:avLst/>
          </a:prstGeom>
          <a:noFill/>
        </p:spPr>
        <p:txBody>
          <a:bodyPr wrap="square" rtlCol="0">
            <a:spAutoFit/>
          </a:bodyPr>
          <a:lstStyle/>
          <a:p>
            <a:r>
              <a:rPr lang="en-US" sz="9600" dirty="0">
                <a:gradFill>
                  <a:gsLst>
                    <a:gs pos="0">
                      <a:srgbClr val="C00000"/>
                    </a:gs>
                    <a:gs pos="100000">
                      <a:srgbClr val="7030A0"/>
                    </a:gs>
                  </a:gsLst>
                  <a:lin ang="5400000" scaled="1"/>
                </a:gradFill>
              </a:rPr>
              <a:t>THE END</a:t>
            </a:r>
            <a:endParaRPr lang="en-US" sz="9600" dirty="0">
              <a:gradFill>
                <a:gsLst>
                  <a:gs pos="0">
                    <a:srgbClr val="C00000"/>
                  </a:gs>
                  <a:gs pos="64613">
                    <a:srgbClr val="AEE61A"/>
                  </a:gs>
                  <a:gs pos="56000">
                    <a:srgbClr val="FFFF00"/>
                  </a:gs>
                  <a:gs pos="37000">
                    <a:srgbClr val="00B0F0"/>
                  </a:gs>
                  <a:gs pos="83000">
                    <a:srgbClr val="00B050"/>
                  </a:gs>
                  <a:gs pos="100000">
                    <a:srgbClr val="7030A0"/>
                  </a:gs>
                </a:gsLst>
                <a:lin ang="5400000" scaled="1"/>
              </a:gradFill>
            </a:endParaRPr>
          </a:p>
        </p:txBody>
      </p:sp>
    </p:spTree>
    <p:extLst>
      <p:ext uri="{BB962C8B-B14F-4D97-AF65-F5344CB8AC3E}">
        <p14:creationId xmlns:p14="http://schemas.microsoft.com/office/powerpoint/2010/main" val="402702299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B9A759-29EE-4E14-AF75-688A8CEE1327}"/>
              </a:ext>
            </a:extLst>
          </p:cNvPr>
          <p:cNvSpPr txBox="1"/>
          <p:nvPr/>
        </p:nvSpPr>
        <p:spPr>
          <a:xfrm>
            <a:off x="3555358" y="1857286"/>
            <a:ext cx="7984503" cy="1569660"/>
          </a:xfrm>
          <a:prstGeom prst="rect">
            <a:avLst/>
          </a:prstGeom>
          <a:noFill/>
        </p:spPr>
        <p:txBody>
          <a:bodyPr wrap="square" rtlCol="0">
            <a:spAutoFit/>
          </a:bodyPr>
          <a:lstStyle/>
          <a:p>
            <a:r>
              <a:rPr lang="en-US" sz="9600" dirty="0">
                <a:gradFill>
                  <a:gsLst>
                    <a:gs pos="0">
                      <a:srgbClr val="C00000"/>
                    </a:gs>
                    <a:gs pos="100000">
                      <a:srgbClr val="7030A0"/>
                    </a:gs>
                  </a:gsLst>
                  <a:lin ang="5400000" scaled="1"/>
                </a:gradFill>
              </a:rPr>
              <a:t>THE END</a:t>
            </a:r>
            <a:endParaRPr lang="en-US" sz="9600" dirty="0">
              <a:gradFill>
                <a:gsLst>
                  <a:gs pos="0">
                    <a:srgbClr val="C00000"/>
                  </a:gs>
                  <a:gs pos="64613">
                    <a:srgbClr val="AEE61A"/>
                  </a:gs>
                  <a:gs pos="56000">
                    <a:srgbClr val="FFFF00"/>
                  </a:gs>
                  <a:gs pos="37000">
                    <a:srgbClr val="00B0F0"/>
                  </a:gs>
                  <a:gs pos="83000">
                    <a:srgbClr val="00B050"/>
                  </a:gs>
                  <a:gs pos="100000">
                    <a:srgbClr val="7030A0"/>
                  </a:gs>
                </a:gsLst>
                <a:lin ang="5400000" scaled="1"/>
              </a:gradFill>
            </a:endParaRPr>
          </a:p>
        </p:txBody>
      </p:sp>
      <p:pic>
        <p:nvPicPr>
          <p:cNvPr id="10" name="Picture 9">
            <a:extLst>
              <a:ext uri="{FF2B5EF4-FFF2-40B4-BE49-F238E27FC236}">
                <a16:creationId xmlns:a16="http://schemas.microsoft.com/office/drawing/2014/main" id="{4F676223-C6BE-45A3-B73B-FFAA7E6457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49" y="3258163"/>
            <a:ext cx="2647994" cy="3485102"/>
          </a:xfrm>
          <a:prstGeom prst="rect">
            <a:avLst/>
          </a:prstGeom>
        </p:spPr>
      </p:pic>
    </p:spTree>
    <p:extLst>
      <p:ext uri="{BB962C8B-B14F-4D97-AF65-F5344CB8AC3E}">
        <p14:creationId xmlns:p14="http://schemas.microsoft.com/office/powerpoint/2010/main" val="2666578875"/>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183</TotalTime>
  <Words>629</Words>
  <Application>Microsoft Office PowerPoint</Application>
  <PresentationFormat>Widescreen</PresentationFormat>
  <Paragraphs>66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Arial</vt:lpstr>
      <vt:lpstr>Arial Unicode MS</vt:lpstr>
      <vt:lpstr>Calibri</vt:lpstr>
      <vt:lpstr>Calibri Light</vt:lpstr>
      <vt:lpstr>Celestial</vt:lpstr>
      <vt:lpstr>CSS Colors and Accessibility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 Colors and Accessibility</dc:title>
  <dc:creator>Gutierrez Adame, Peter</dc:creator>
  <cp:lastModifiedBy>Gutierrez Adame, Peter</cp:lastModifiedBy>
  <cp:revision>17</cp:revision>
  <dcterms:created xsi:type="dcterms:W3CDTF">2025-11-06T13:08:59Z</dcterms:created>
  <dcterms:modified xsi:type="dcterms:W3CDTF">2025-11-07T13:43:48Z</dcterms:modified>
</cp:coreProperties>
</file>