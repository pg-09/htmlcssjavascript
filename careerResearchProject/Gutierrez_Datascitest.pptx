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1"/>
  </p:notesMasterIdLst>
  <p:sldIdLst>
    <p:sldId id="256" r:id="rId2"/>
    <p:sldId id="258" r:id="rId3"/>
    <p:sldId id="264" r:id="rId4"/>
    <p:sldId id="262" r:id="rId5"/>
    <p:sldId id="261" r:id="rId6"/>
    <p:sldId id="260" r:id="rId7"/>
    <p:sldId id="259" r:id="rId8"/>
    <p:sldId id="257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83887" autoAdjust="0"/>
  </p:normalViewPr>
  <p:slideViewPr>
    <p:cSldViewPr snapToGrid="0">
      <p:cViewPr varScale="1">
        <p:scale>
          <a:sx n="102" d="100"/>
          <a:sy n="102" d="100"/>
        </p:scale>
        <p:origin x="2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tierrez Adame, Peter" userId="5d9394be-4955-4be1-90bd-e7edf60396d6" providerId="ADAL" clId="{21E3042F-B0B5-42AA-B6A2-953A8E55C577}"/>
    <pc:docChg chg="undo custSel addSld delSld modSld">
      <pc:chgData name="Gutierrez Adame, Peter" userId="5d9394be-4955-4be1-90bd-e7edf60396d6" providerId="ADAL" clId="{21E3042F-B0B5-42AA-B6A2-953A8E55C577}" dt="2025-11-05T13:29:02.392" v="141"/>
      <pc:docMkLst>
        <pc:docMk/>
      </pc:docMkLst>
      <pc:sldChg chg="modTransition">
        <pc:chgData name="Gutierrez Adame, Peter" userId="5d9394be-4955-4be1-90bd-e7edf60396d6" providerId="ADAL" clId="{21E3042F-B0B5-42AA-B6A2-953A8E55C577}" dt="2025-11-05T13:29:02.392" v="141"/>
        <pc:sldMkLst>
          <pc:docMk/>
          <pc:sldMk cId="1939867566" sldId="256"/>
        </pc:sldMkLst>
      </pc:sldChg>
      <pc:sldChg chg="addSp delSp modSp mod modTransition">
        <pc:chgData name="Gutierrez Adame, Peter" userId="5d9394be-4955-4be1-90bd-e7edf60396d6" providerId="ADAL" clId="{21E3042F-B0B5-42AA-B6A2-953A8E55C577}" dt="2025-11-05T13:21:43.524" v="136"/>
        <pc:sldMkLst>
          <pc:docMk/>
          <pc:sldMk cId="1298259116" sldId="257"/>
        </pc:sldMkLst>
        <pc:spChg chg="mod">
          <ac:chgData name="Gutierrez Adame, Peter" userId="5d9394be-4955-4be1-90bd-e7edf60396d6" providerId="ADAL" clId="{21E3042F-B0B5-42AA-B6A2-953A8E55C577}" dt="2025-11-05T13:12:58.906" v="123" actId="255"/>
          <ac:spMkLst>
            <pc:docMk/>
            <pc:sldMk cId="1298259116" sldId="257"/>
            <ac:spMk id="2" creationId="{054C9674-85D5-4C59-AF63-F5D30E57213A}"/>
          </ac:spMkLst>
        </pc:spChg>
        <pc:spChg chg="del">
          <ac:chgData name="Gutierrez Adame, Peter" userId="5d9394be-4955-4be1-90bd-e7edf60396d6" providerId="ADAL" clId="{21E3042F-B0B5-42AA-B6A2-953A8E55C577}" dt="2025-11-05T13:15:48.119" v="129" actId="478"/>
          <ac:spMkLst>
            <pc:docMk/>
            <pc:sldMk cId="1298259116" sldId="257"/>
            <ac:spMk id="3" creationId="{E8137732-CE79-48A8-BAF6-60445D922CFA}"/>
          </ac:spMkLst>
        </pc:spChg>
        <pc:graphicFrameChg chg="add mod modGraphic">
          <ac:chgData name="Gutierrez Adame, Peter" userId="5d9394be-4955-4be1-90bd-e7edf60396d6" providerId="ADAL" clId="{21E3042F-B0B5-42AA-B6A2-953A8E55C577}" dt="2025-11-05T13:15:55.730" v="132" actId="1076"/>
          <ac:graphicFrameMkLst>
            <pc:docMk/>
            <pc:sldMk cId="1298259116" sldId="257"/>
            <ac:graphicFrameMk id="4" creationId="{030F3030-C2B7-49C4-A308-9BB5A761C7BA}"/>
          </ac:graphicFrameMkLst>
        </pc:graphicFrameChg>
      </pc:sldChg>
      <pc:sldChg chg="modSp mod">
        <pc:chgData name="Gutierrez Adame, Peter" userId="5d9394be-4955-4be1-90bd-e7edf60396d6" providerId="ADAL" clId="{21E3042F-B0B5-42AA-B6A2-953A8E55C577}" dt="2025-11-04T15:30:21.194" v="45" actId="20577"/>
        <pc:sldMkLst>
          <pc:docMk/>
          <pc:sldMk cId="904172760" sldId="258"/>
        </pc:sldMkLst>
        <pc:spChg chg="mod">
          <ac:chgData name="Gutierrez Adame, Peter" userId="5d9394be-4955-4be1-90bd-e7edf60396d6" providerId="ADAL" clId="{21E3042F-B0B5-42AA-B6A2-953A8E55C577}" dt="2025-11-04T15:30:21.194" v="45" actId="20577"/>
          <ac:spMkLst>
            <pc:docMk/>
            <pc:sldMk cId="904172760" sldId="258"/>
            <ac:spMk id="2" creationId="{054C9674-85D5-4C59-AF63-F5D30E57213A}"/>
          </ac:spMkLst>
        </pc:spChg>
      </pc:sldChg>
      <pc:sldChg chg="modTransition">
        <pc:chgData name="Gutierrez Adame, Peter" userId="5d9394be-4955-4be1-90bd-e7edf60396d6" providerId="ADAL" clId="{21E3042F-B0B5-42AA-B6A2-953A8E55C577}" dt="2025-11-05T13:21:38.738" v="135"/>
        <pc:sldMkLst>
          <pc:docMk/>
          <pc:sldMk cId="2802226853" sldId="259"/>
        </pc:sldMkLst>
      </pc:sldChg>
      <pc:sldChg chg="modTransition">
        <pc:chgData name="Gutierrez Adame, Peter" userId="5d9394be-4955-4be1-90bd-e7edf60396d6" providerId="ADAL" clId="{21E3042F-B0B5-42AA-B6A2-953A8E55C577}" dt="2025-11-05T13:21:34.956" v="134"/>
        <pc:sldMkLst>
          <pc:docMk/>
          <pc:sldMk cId="2568492615" sldId="260"/>
        </pc:sldMkLst>
      </pc:sldChg>
      <pc:sldChg chg="addSp delSp modSp mod">
        <pc:chgData name="Gutierrez Adame, Peter" userId="5d9394be-4955-4be1-90bd-e7edf60396d6" providerId="ADAL" clId="{21E3042F-B0B5-42AA-B6A2-953A8E55C577}" dt="2025-11-04T15:28:37.161" v="25" actId="313"/>
        <pc:sldMkLst>
          <pc:docMk/>
          <pc:sldMk cId="3048917505" sldId="262"/>
        </pc:sldMkLst>
        <pc:spChg chg="add del">
          <ac:chgData name="Gutierrez Adame, Peter" userId="5d9394be-4955-4be1-90bd-e7edf60396d6" providerId="ADAL" clId="{21E3042F-B0B5-42AA-B6A2-953A8E55C577}" dt="2025-11-04T15:28:06.182" v="1"/>
          <ac:spMkLst>
            <pc:docMk/>
            <pc:sldMk cId="3048917505" sldId="262"/>
            <ac:spMk id="5" creationId="{75998AF2-0383-4E7F-BACE-E8DE105E1C7C}"/>
          </ac:spMkLst>
        </pc:spChg>
        <pc:spChg chg="add mod">
          <ac:chgData name="Gutierrez Adame, Peter" userId="5d9394be-4955-4be1-90bd-e7edf60396d6" providerId="ADAL" clId="{21E3042F-B0B5-42AA-B6A2-953A8E55C577}" dt="2025-11-04T15:28:37.161" v="25" actId="313"/>
          <ac:spMkLst>
            <pc:docMk/>
            <pc:sldMk cId="3048917505" sldId="262"/>
            <ac:spMk id="6" creationId="{C9A9D612-E6C5-4ED5-BB0D-272DD71A6D64}"/>
          </ac:spMkLst>
        </pc:spChg>
      </pc:sldChg>
      <pc:sldChg chg="del">
        <pc:chgData name="Gutierrez Adame, Peter" userId="5d9394be-4955-4be1-90bd-e7edf60396d6" providerId="ADAL" clId="{21E3042F-B0B5-42AA-B6A2-953A8E55C577}" dt="2025-11-04T15:28:45.574" v="26" actId="2696"/>
        <pc:sldMkLst>
          <pc:docMk/>
          <pc:sldMk cId="29199600" sldId="263"/>
        </pc:sldMkLst>
      </pc:sldChg>
      <pc:sldChg chg="modSp new mod modTransition">
        <pc:chgData name="Gutierrez Adame, Peter" userId="5d9394be-4955-4be1-90bd-e7edf60396d6" providerId="ADAL" clId="{21E3042F-B0B5-42AA-B6A2-953A8E55C577}" dt="2025-11-05T13:21:56.165" v="139"/>
        <pc:sldMkLst>
          <pc:docMk/>
          <pc:sldMk cId="954946100" sldId="263"/>
        </pc:sldMkLst>
        <pc:spChg chg="mod">
          <ac:chgData name="Gutierrez Adame, Peter" userId="5d9394be-4955-4be1-90bd-e7edf60396d6" providerId="ADAL" clId="{21E3042F-B0B5-42AA-B6A2-953A8E55C577}" dt="2025-11-05T13:16:09.508" v="133" actId="1076"/>
          <ac:spMkLst>
            <pc:docMk/>
            <pc:sldMk cId="954946100" sldId="263"/>
            <ac:spMk id="2" creationId="{CE937693-9949-49E7-A130-2A439DE4F8F2}"/>
          </ac:spMkLst>
        </pc:spChg>
        <pc:spChg chg="mod">
          <ac:chgData name="Gutierrez Adame, Peter" userId="5d9394be-4955-4be1-90bd-e7edf60396d6" providerId="ADAL" clId="{21E3042F-B0B5-42AA-B6A2-953A8E55C577}" dt="2025-11-05T13:12:30.012" v="120" actId="1076"/>
          <ac:spMkLst>
            <pc:docMk/>
            <pc:sldMk cId="954946100" sldId="263"/>
            <ac:spMk id="3" creationId="{154F9583-6EEB-47FB-AD9D-46A459FF01D6}"/>
          </ac:spMkLst>
        </pc:spChg>
      </pc:sldChg>
      <pc:sldChg chg="addSp delSp modSp add mod">
        <pc:chgData name="Gutierrez Adame, Peter" userId="5d9394be-4955-4be1-90bd-e7edf60396d6" providerId="ADAL" clId="{21E3042F-B0B5-42AA-B6A2-953A8E55C577}" dt="2025-11-05T13:07:04.199" v="104" actId="14100"/>
        <pc:sldMkLst>
          <pc:docMk/>
          <pc:sldMk cId="3024130150" sldId="264"/>
        </pc:sldMkLst>
        <pc:spChg chg="mod">
          <ac:chgData name="Gutierrez Adame, Peter" userId="5d9394be-4955-4be1-90bd-e7edf60396d6" providerId="ADAL" clId="{21E3042F-B0B5-42AA-B6A2-953A8E55C577}" dt="2025-11-04T15:37:28.509" v="91" actId="20577"/>
          <ac:spMkLst>
            <pc:docMk/>
            <pc:sldMk cId="3024130150" sldId="264"/>
            <ac:spMk id="2" creationId="{054C9674-85D5-4C59-AF63-F5D30E57213A}"/>
          </ac:spMkLst>
        </pc:spChg>
        <pc:spChg chg="del mod">
          <ac:chgData name="Gutierrez Adame, Peter" userId="5d9394be-4955-4be1-90bd-e7edf60396d6" providerId="ADAL" clId="{21E3042F-B0B5-42AA-B6A2-953A8E55C577}" dt="2025-11-04T15:31:47.174" v="72" actId="478"/>
          <ac:spMkLst>
            <pc:docMk/>
            <pc:sldMk cId="3024130150" sldId="264"/>
            <ac:spMk id="3" creationId="{E8137732-CE79-48A8-BAF6-60445D922CFA}"/>
          </ac:spMkLst>
        </pc:spChg>
        <pc:spChg chg="add del mod">
          <ac:chgData name="Gutierrez Adame, Peter" userId="5d9394be-4955-4be1-90bd-e7edf60396d6" providerId="ADAL" clId="{21E3042F-B0B5-42AA-B6A2-953A8E55C577}" dt="2025-11-05T13:06:40.152" v="97" actId="478"/>
          <ac:spMkLst>
            <pc:docMk/>
            <pc:sldMk cId="3024130150" sldId="264"/>
            <ac:spMk id="4" creationId="{A42853C3-0D50-4268-9D5E-2C800708F0F5}"/>
          </ac:spMkLst>
        </pc:spChg>
        <pc:spChg chg="add del mod">
          <ac:chgData name="Gutierrez Adame, Peter" userId="5d9394be-4955-4be1-90bd-e7edf60396d6" providerId="ADAL" clId="{21E3042F-B0B5-42AA-B6A2-953A8E55C577}" dt="2025-11-05T13:06:32.401" v="96" actId="478"/>
          <ac:spMkLst>
            <pc:docMk/>
            <pc:sldMk cId="3024130150" sldId="264"/>
            <ac:spMk id="6" creationId="{BA5D0ABB-36CD-4187-A721-1C06C120606E}"/>
          </ac:spMkLst>
        </pc:spChg>
        <pc:graphicFrameChg chg="add del mod">
          <ac:chgData name="Gutierrez Adame, Peter" userId="5d9394be-4955-4be1-90bd-e7edf60396d6" providerId="ADAL" clId="{21E3042F-B0B5-42AA-B6A2-953A8E55C577}" dt="2025-11-04T15:31:13.344" v="54" actId="478"/>
          <ac:graphicFrameMkLst>
            <pc:docMk/>
            <pc:sldMk cId="3024130150" sldId="264"/>
            <ac:graphicFrameMk id="4" creationId="{4C7D2485-9C6C-4528-B65F-7725B7AD099D}"/>
          </ac:graphicFrameMkLst>
        </pc:graphicFrameChg>
        <pc:graphicFrameChg chg="add mod modGraphic">
          <ac:chgData name="Gutierrez Adame, Peter" userId="5d9394be-4955-4be1-90bd-e7edf60396d6" providerId="ADAL" clId="{21E3042F-B0B5-42AA-B6A2-953A8E55C577}" dt="2025-11-05T13:07:04.199" v="104" actId="14100"/>
          <ac:graphicFrameMkLst>
            <pc:docMk/>
            <pc:sldMk cId="3024130150" sldId="264"/>
            <ac:graphicFrameMk id="7" creationId="{D8DAA012-2D41-4F56-BAC9-5429B429614B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Computer systems design and related services</c:v>
                </c:pt>
                <c:pt idx="1">
                  <c:v>Management of companies and enterprises</c:v>
                </c:pt>
                <c:pt idx="2">
                  <c:v>Scientific research and development services</c:v>
                </c:pt>
                <c:pt idx="3">
                  <c:v>Management, scientific, and technical consulting services</c:v>
                </c:pt>
                <c:pt idx="4">
                  <c:v>Insurance carriers and related activities</c:v>
                </c:pt>
              </c:strCache>
            </c:strRef>
          </c:cat>
          <c:val>
            <c:numRef>
              <c:f>Sheet1!$B$2:$B$6</c:f>
              <c:numCache>
                <c:formatCode>_("$"* #,##0.00_);_("$"* \(#,##0.00\);_("$"* "-"??_);_(@_)</c:formatCode>
                <c:ptCount val="5"/>
                <c:pt idx="0">
                  <c:v>128020</c:v>
                </c:pt>
                <c:pt idx="1">
                  <c:v>126940</c:v>
                </c:pt>
                <c:pt idx="2">
                  <c:v>120090</c:v>
                </c:pt>
                <c:pt idx="3">
                  <c:v>110240</c:v>
                </c:pt>
                <c:pt idx="4">
                  <c:v>108920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2E-4BAC-9CC9-544E694636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00343871"/>
        <c:axId val="1600329311"/>
      </c:barChart>
      <c:catAx>
        <c:axId val="1600343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0329311"/>
        <c:crosses val="autoZero"/>
        <c:auto val="1"/>
        <c:lblAlgn val="ctr"/>
        <c:lblOffset val="100"/>
        <c:noMultiLvlLbl val="0"/>
      </c:catAx>
      <c:valAx>
        <c:axId val="1600329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0343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66016-1080-44C2-8106-33E5ABD6051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ABBA7-A3E9-4F7F-8DB4-5471E76D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72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 </a:t>
            </a:r>
            <a:r>
              <a:rPr lang="en-US" dirty="0" err="1"/>
              <a:t>skillssss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BBA7-A3E9-4F7F-8DB4-5471E76D05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52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 </a:t>
            </a:r>
            <a:r>
              <a:rPr lang="en-US" dirty="0" err="1"/>
              <a:t>skillssss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BBA7-A3E9-4F7F-8DB4-5471E76D05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81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BBA7-A3E9-4F7F-8DB4-5471E76D05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39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</a:t>
            </a:r>
            <a:r>
              <a:rPr lang="en-US" dirty="0" err="1"/>
              <a:t>connectios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BBA7-A3E9-4F7F-8DB4-5471E76D05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23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BBA7-A3E9-4F7F-8DB4-5471E76D05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47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BBA7-A3E9-4F7F-8DB4-5471E76D05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34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12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3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20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42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1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4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9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07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76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6967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20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69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95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72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9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3019B6F-88A2-47FE-8397-E3957319E0D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F53B28B-428C-41C5-9D60-3BBE1426E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57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s.gov/ooh/math/data-scientists.htm#tab-5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9674-85D5-4C59-AF63-F5D30E572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999033"/>
            <a:ext cx="8689976" cy="2509213"/>
          </a:xfrm>
        </p:spPr>
        <p:txBody>
          <a:bodyPr/>
          <a:lstStyle/>
          <a:p>
            <a:r>
              <a:rPr lang="en-US" dirty="0"/>
              <a:t>Data scientist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37732-CE79-48A8-BAF6-60445D922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685032"/>
            <a:ext cx="8689976" cy="1371599"/>
          </a:xfrm>
        </p:spPr>
        <p:txBody>
          <a:bodyPr/>
          <a:lstStyle/>
          <a:p>
            <a:r>
              <a:rPr lang="en-US" dirty="0"/>
              <a:t>Greg khomAR 2030</a:t>
            </a:r>
          </a:p>
        </p:txBody>
      </p:sp>
    </p:spTree>
    <p:extLst>
      <p:ext uri="{BB962C8B-B14F-4D97-AF65-F5344CB8AC3E}">
        <p14:creationId xmlns:p14="http://schemas.microsoft.com/office/powerpoint/2010/main" val="1939867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 advTm="0">
        <p14:glitter pattern="hexagon"/>
      </p:transition>
    </mc:Choice>
    <mc:Fallback>
      <p:transition spd="slow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9674-85D5-4C59-AF63-F5D30E572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64756" y="859536"/>
            <a:ext cx="7310692" cy="1121662"/>
          </a:xfrm>
        </p:spPr>
        <p:txBody>
          <a:bodyPr/>
          <a:lstStyle/>
          <a:p>
            <a:r>
              <a:rPr lang="en-US" dirty="0"/>
              <a:t>What they do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37732-CE79-48A8-BAF6-60445D922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792" y="2185416"/>
            <a:ext cx="10194100" cy="318211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Data Scientists apply advanced statistical and computational methods to extract knowledge and insights from structured and unstructured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Clean and Organize Data:</a:t>
            </a:r>
            <a:r>
              <a:rPr lang="en-US" dirty="0"/>
              <a:t> Spend significant time collecting, processing, and "cleaning" raw data (often 60-80% of a project) to ensure it's accurate and ready for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Develop Models &amp; Algorithms:</a:t>
            </a:r>
            <a:r>
              <a:rPr lang="en-US" dirty="0"/>
              <a:t> Build, test, and validate </a:t>
            </a:r>
            <a:r>
              <a:rPr lang="en-US" b="1" dirty="0"/>
              <a:t>machine learning (ML)</a:t>
            </a:r>
            <a:r>
              <a:rPr lang="en-US" dirty="0"/>
              <a:t> models and predictive algorithms to forecast trends, classify data, or optimize business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Communicate Findings:</a:t>
            </a:r>
            <a:r>
              <a:rPr lang="en-US" dirty="0"/>
              <a:t> Create and present compelling data visualizations, reports, and strategic recommendations to technical and non-technical stakeholders to drive data-driven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17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9674-85D5-4C59-AF63-F5D30E572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31705" y="1388346"/>
            <a:ext cx="7310692" cy="1121662"/>
          </a:xfrm>
        </p:spPr>
        <p:txBody>
          <a:bodyPr>
            <a:normAutofit fontScale="90000"/>
          </a:bodyPr>
          <a:lstStyle/>
          <a:p>
            <a:r>
              <a:rPr lang="en-US" b="1"/>
              <a:t>Ed ucation</a:t>
            </a:r>
            <a:r>
              <a:rPr lang="en-US" b="1" dirty="0"/>
              <a:t> &amp; Skills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DAA012-2D41-4F56-BAC9-5429B4296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817321"/>
              </p:ext>
            </p:extLst>
          </p:nvPr>
        </p:nvGraphicFramePr>
        <p:xfrm>
          <a:off x="-2" y="1949177"/>
          <a:ext cx="11403726" cy="367966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5701863">
                  <a:extLst>
                    <a:ext uri="{9D8B030D-6E8A-4147-A177-3AD203B41FA5}">
                      <a16:colId xmlns:a16="http://schemas.microsoft.com/office/drawing/2014/main" val="434153686"/>
                    </a:ext>
                  </a:extLst>
                </a:gridCol>
                <a:gridCol w="5701863">
                  <a:extLst>
                    <a:ext uri="{9D8B030D-6E8A-4147-A177-3AD203B41FA5}">
                      <a16:colId xmlns:a16="http://schemas.microsoft.com/office/drawing/2014/main" val="3030285137"/>
                    </a:ext>
                  </a:extLst>
                </a:gridCol>
              </a:tblGrid>
              <a:tr h="147862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Category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Requirement/Skills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extLst>
                  <a:ext uri="{0D108BD9-81ED-4DB2-BD59-A6C34878D82A}">
                    <a16:rowId xmlns:a16="http://schemas.microsoft.com/office/drawing/2014/main" val="437032072"/>
                  </a:ext>
                </a:extLst>
              </a:tr>
              <a:tr h="367448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Minimum Education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Bachelor's degree (Computer Science, Statistics, Mathematics, Data Science, or a related quantitative field).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extLst>
                  <a:ext uri="{0D108BD9-81ED-4DB2-BD59-A6C34878D82A}">
                    <a16:rowId xmlns:a16="http://schemas.microsoft.com/office/drawing/2014/main" val="1403013554"/>
                  </a:ext>
                </a:extLst>
              </a:tr>
              <a:tr h="367448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Recommended Education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Master's degree in Data Science, Computer Science, or a closely related field is highly valued and often preferred for specialized or senior roles.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extLst>
                  <a:ext uri="{0D108BD9-81ED-4DB2-BD59-A6C34878D82A}">
                    <a16:rowId xmlns:a16="http://schemas.microsoft.com/office/drawing/2014/main" val="2857058502"/>
                  </a:ext>
                </a:extLst>
              </a:tr>
              <a:tr h="367448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Technical Skills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1.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Programming Proficiency: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 Mastery of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 (for ML, libraries like Pandas, NumPy, Scikit-learn) and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 (for statistical analysis).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extLst>
                  <a:ext uri="{0D108BD9-81ED-4DB2-BD59-A6C34878D82A}">
                    <a16:rowId xmlns:a16="http://schemas.microsoft.com/office/drawing/2014/main" val="1922464194"/>
                  </a:ext>
                </a:extLst>
              </a:tr>
              <a:tr h="367448"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2.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Database Querying: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 Strong knowledge of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SQL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 for extracting and manipulating data from relational databases.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extLst>
                  <a:ext uri="{0D108BD9-81ED-4DB2-BD59-A6C34878D82A}">
                    <a16:rowId xmlns:a16="http://schemas.microsoft.com/office/drawing/2014/main" val="2851127582"/>
                  </a:ext>
                </a:extLst>
              </a:tr>
              <a:tr h="367448"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3.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Machine Learning/AI: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 Deep understanding of ML algorithms (regression, classification, clustering, deep learning) and model deployment.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extLst>
                  <a:ext uri="{0D108BD9-81ED-4DB2-BD59-A6C34878D82A}">
                    <a16:rowId xmlns:a16="http://schemas.microsoft.com/office/drawing/2014/main" val="4025762592"/>
                  </a:ext>
                </a:extLst>
              </a:tr>
              <a:tr h="367448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Soft Skills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1.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Problem-Solving/Analytical: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 The ability to devise creative, data-backed solutions to complex, ambiguous business problems.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extLst>
                  <a:ext uri="{0D108BD9-81ED-4DB2-BD59-A6C34878D82A}">
                    <a16:rowId xmlns:a16="http://schemas.microsoft.com/office/drawing/2014/main" val="2517865500"/>
                  </a:ext>
                </a:extLst>
              </a:tr>
              <a:tr h="367448"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2.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Communication &amp; Storytelling: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 Skill in translating complex analytical results into clear, actionable insights for non-technical audiences.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extLst>
                  <a:ext uri="{0D108BD9-81ED-4DB2-BD59-A6C34878D82A}">
                    <a16:rowId xmlns:a16="http://schemas.microsoft.com/office/drawing/2014/main" val="2267752519"/>
                  </a:ext>
                </a:extLst>
              </a:tr>
              <a:tr h="367448"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3.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Curiosity &amp; Continuous Learning: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 A strong desire to explore new data, tools, and algorithms in a rapidly evolving field.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47559" marR="47559" marT="31706" marB="31706" anchor="ctr"/>
                </a:tc>
                <a:extLst>
                  <a:ext uri="{0D108BD9-81ED-4DB2-BD59-A6C34878D82A}">
                    <a16:rowId xmlns:a16="http://schemas.microsoft.com/office/drawing/2014/main" val="2465419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13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99E07F-D595-4FB7-81F5-F46B5D13A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762888"/>
              </p:ext>
            </p:extLst>
          </p:nvPr>
        </p:nvGraphicFramePr>
        <p:xfrm>
          <a:off x="832104" y="2000108"/>
          <a:ext cx="10322370" cy="256274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5900657">
                  <a:extLst>
                    <a:ext uri="{9D8B030D-6E8A-4147-A177-3AD203B41FA5}">
                      <a16:colId xmlns:a16="http://schemas.microsoft.com/office/drawing/2014/main" val="635543829"/>
                    </a:ext>
                  </a:extLst>
                </a:gridCol>
                <a:gridCol w="4421713">
                  <a:extLst>
                    <a:ext uri="{9D8B030D-6E8A-4147-A177-3AD203B41FA5}">
                      <a16:colId xmlns:a16="http://schemas.microsoft.com/office/drawing/2014/main" val="2751484491"/>
                    </a:ext>
                  </a:extLst>
                </a:gridCol>
              </a:tblGrid>
              <a:tr h="581548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Career Level</a:t>
                      </a:r>
                      <a:endParaRPr lang="en-US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Average Base Salary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99055375"/>
                  </a:ext>
                </a:extLst>
              </a:tr>
              <a:tr h="328564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Entry-Level (0-2 </a:t>
                      </a:r>
                      <a:r>
                        <a:rPr lang="en-US" b="1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yrs</a:t>
                      </a:r>
                      <a:r>
                        <a:rPr lang="en-US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)</a:t>
                      </a:r>
                      <a:endParaRPr lang="en-US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$\approx \$100,369$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99288827"/>
                  </a:ext>
                </a:extLst>
              </a:tr>
              <a:tr h="328564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Mid-Level (2-5 </a:t>
                      </a:r>
                      <a:r>
                        <a:rPr lang="en-US" b="1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yrs</a:t>
                      </a:r>
                      <a:r>
                        <a:rPr lang="en-US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)</a:t>
                      </a:r>
                      <a:endParaRPr lang="en-US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$\</a:t>
                      </a:r>
                      <a:r>
                        <a:rPr lang="en-US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approx</a:t>
                      </a: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 \$134,182$</a:t>
                      </a:r>
                      <a:endParaRPr lang="en-US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09302325"/>
                  </a:ext>
                </a:extLst>
              </a:tr>
              <a:tr h="328564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Senior-Level (6+ </a:t>
                      </a:r>
                      <a:r>
                        <a:rPr lang="en-US" b="1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yrs</a:t>
                      </a:r>
                      <a:r>
                        <a:rPr lang="en-US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)</a:t>
                      </a:r>
                      <a:endParaRPr lang="en-US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$\approx \$146,430$</a:t>
                      </a:r>
                      <a:endParaRPr lang="en-US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77267322"/>
                  </a:ext>
                </a:extLst>
              </a:tr>
              <a:tr h="539784"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(Source: Interview Query/Glassdoor/BLS, based on various salary reports)</a:t>
                      </a:r>
                      <a:endParaRPr lang="en-US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endParaRPr lang="en-US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888371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9A9D612-E6C5-4ED5-BB0D-272DD71A6D64}"/>
              </a:ext>
            </a:extLst>
          </p:cNvPr>
          <p:cNvSpPr txBox="1"/>
          <p:nvPr/>
        </p:nvSpPr>
        <p:spPr>
          <a:xfrm>
            <a:off x="947451" y="683045"/>
            <a:ext cx="9177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Salary snapshot</a:t>
            </a:r>
          </a:p>
        </p:txBody>
      </p:sp>
    </p:spTree>
    <p:extLst>
      <p:ext uri="{BB962C8B-B14F-4D97-AF65-F5344CB8AC3E}">
        <p14:creationId xmlns:p14="http://schemas.microsoft.com/office/powerpoint/2010/main" val="3048917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9674-85D5-4C59-AF63-F5D30E572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6660" y="1325880"/>
            <a:ext cx="5024692" cy="838198"/>
          </a:xfrm>
        </p:spPr>
        <p:txBody>
          <a:bodyPr/>
          <a:lstStyle/>
          <a:p>
            <a:r>
              <a:rPr lang="en-US" dirty="0"/>
              <a:t>JOB OUTLOOK</a:t>
            </a: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5479E17E-E922-4EF2-ABDB-1E3358DF17F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40700" y="2448881"/>
            <a:ext cx="829824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Rate: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33.5%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projected growth from 2024 to 2034, significantly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 faster than the average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all occupations (U.S. Bureau of Labor Statistics).</a:t>
            </a:r>
            <a:endParaRPr lang="en-US" altLang="en-US" sz="1800" cap="none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 Summary: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Demand is exceptionally strong and is driven by the continued exponential growth of data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the increasing need for organizations across all sectors (tech, finance, healthcare, etc.) to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data analysis to make informed decisions, develop new products, and gain a competitive edge.</a:t>
            </a:r>
          </a:p>
        </p:txBody>
      </p:sp>
    </p:spTree>
    <p:extLst>
      <p:ext uri="{BB962C8B-B14F-4D97-AF65-F5344CB8AC3E}">
        <p14:creationId xmlns:p14="http://schemas.microsoft.com/office/powerpoint/2010/main" val="129576761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9674-85D5-4C59-AF63-F5D30E572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79540" y="637033"/>
            <a:ext cx="8689976" cy="1505710"/>
          </a:xfrm>
        </p:spPr>
        <p:txBody>
          <a:bodyPr/>
          <a:lstStyle/>
          <a:p>
            <a:r>
              <a:rPr lang="en-US" dirty="0"/>
              <a:t>Coursework Connection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9740CB-6A66-4C38-9095-15408A678353}"/>
              </a:ext>
            </a:extLst>
          </p:cNvPr>
          <p:cNvSpPr txBox="1"/>
          <p:nvPr/>
        </p:nvSpPr>
        <p:spPr>
          <a:xfrm>
            <a:off x="1051560" y="2642616"/>
            <a:ext cx="91257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Code: </a:t>
            </a:r>
            <a:r>
              <a:rPr lang="en-US" b="1" dirty="0"/>
              <a:t>Essential-</a:t>
            </a:r>
          </a:p>
          <a:p>
            <a:r>
              <a:rPr lang="en-US" dirty="0"/>
              <a:t>Programming languages like Python and R are the </a:t>
            </a:r>
            <a:r>
              <a:rPr lang="en-US" b="1" dirty="0"/>
              <a:t>primary tools</a:t>
            </a:r>
            <a:r>
              <a:rPr lang="en-US" dirty="0"/>
              <a:t> for data cleaning, statistical analysis, model development, and scripting data pipelines.</a:t>
            </a:r>
          </a:p>
          <a:p>
            <a:endParaRPr lang="en-US" dirty="0"/>
          </a:p>
          <a:p>
            <a:r>
              <a:rPr lang="en-US" dirty="0"/>
              <a:t>DB (Database)Critical-</a:t>
            </a:r>
          </a:p>
          <a:p>
            <a:r>
              <a:rPr lang="en-US" dirty="0"/>
              <a:t>Knowledge of </a:t>
            </a:r>
            <a:r>
              <a:rPr lang="en-US" b="1" dirty="0"/>
              <a:t>SQL</a:t>
            </a:r>
            <a:r>
              <a:rPr lang="en-US" dirty="0"/>
              <a:t> and database concepts (data warehousing, data modeling) is necessary to efficiently query, retrieve, and structure the large datasets used for analysis.</a:t>
            </a:r>
          </a:p>
          <a:p>
            <a:endParaRPr lang="en-US" dirty="0"/>
          </a:p>
          <a:p>
            <a:r>
              <a:rPr lang="en-US" dirty="0"/>
              <a:t>AI (Artificial Intelligence)Core-</a:t>
            </a:r>
          </a:p>
          <a:p>
            <a:r>
              <a:rPr lang="en-US" dirty="0"/>
              <a:t>The entire field relies on Machine Learning (ML)—a major subset of AI—to build predictive and prescriptive models. Courses in Deep Learning, NLP (Natural Language Processing), and </a:t>
            </a:r>
            <a:r>
              <a:rPr lang="en-US" dirty="0" err="1"/>
              <a:t>MLOps</a:t>
            </a:r>
            <a:r>
              <a:rPr lang="en-US" dirty="0"/>
              <a:t> are directly applicable.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9261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9674-85D5-4C59-AF63-F5D30E572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23543" y="1088835"/>
            <a:ext cx="6864178" cy="1022731"/>
          </a:xfrm>
        </p:spPr>
        <p:txBody>
          <a:bodyPr/>
          <a:lstStyle/>
          <a:p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Trend Chart</a:t>
            </a: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D103AFC-6156-4283-B871-3FB97BE767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6355651"/>
              </p:ext>
            </p:extLst>
          </p:nvPr>
        </p:nvGraphicFramePr>
        <p:xfrm>
          <a:off x="3872433" y="454446"/>
          <a:ext cx="6226365" cy="4545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B796A23-3DAC-4039-B163-1777FC183185}"/>
              </a:ext>
            </a:extLst>
          </p:cNvPr>
          <p:cNvSpPr txBox="1"/>
          <p:nvPr/>
        </p:nvSpPr>
        <p:spPr>
          <a:xfrm>
            <a:off x="0" y="5879333"/>
            <a:ext cx="7099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Data Scientists : Occupational Outlook Handbook: : U.S. Bureau of Labor Statistics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226853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9674-85D5-4C59-AF63-F5D30E5721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Day-in-the-Life</a:t>
            </a:r>
            <a:br>
              <a:rPr lang="en-US" sz="2000" b="1" dirty="0"/>
            </a:br>
            <a:r>
              <a:rPr lang="en-US" sz="2000" b="1" dirty="0"/>
              <a:t>Data Prep:</a:t>
            </a:r>
            <a:r>
              <a:rPr lang="en-US" sz="2000" dirty="0"/>
              <a:t> Spend significant time writing </a:t>
            </a:r>
            <a:r>
              <a:rPr lang="en-US" sz="2000" b="1" dirty="0"/>
              <a:t>Python</a:t>
            </a:r>
            <a:r>
              <a:rPr lang="en-US" sz="2000" dirty="0"/>
              <a:t> or </a:t>
            </a:r>
            <a:r>
              <a:rPr lang="en-US" sz="2000" b="1" dirty="0"/>
              <a:t>SQL</a:t>
            </a:r>
            <a:r>
              <a:rPr lang="en-US" sz="2000" dirty="0"/>
              <a:t> scripts for data cleaning and transformation (</a:t>
            </a:r>
            <a:r>
              <a:rPr lang="en-US" sz="2000" b="1" dirty="0"/>
              <a:t>Data Wrangling</a:t>
            </a:r>
            <a:r>
              <a:rPr lang="en-US" sz="2000" dirty="0"/>
              <a:t>).</a:t>
            </a:r>
            <a:br>
              <a:rPr lang="en-US" sz="2000" dirty="0"/>
            </a:br>
            <a:r>
              <a:rPr lang="en-US" sz="2000" b="1" dirty="0"/>
              <a:t>Modeling:</a:t>
            </a:r>
            <a:r>
              <a:rPr lang="en-US" sz="2000" dirty="0"/>
              <a:t> Build, train, and test </a:t>
            </a:r>
            <a:r>
              <a:rPr lang="en-US" sz="2000" b="1" dirty="0"/>
              <a:t>Machine Learning</a:t>
            </a:r>
            <a:r>
              <a:rPr lang="en-US" sz="2000" dirty="0"/>
              <a:t> models and algorithms, followed by debugging and iteration.</a:t>
            </a:r>
            <a:br>
              <a:rPr lang="en-US" sz="2000" dirty="0"/>
            </a:br>
            <a:r>
              <a:rPr lang="en-US" sz="2000" b="1" dirty="0"/>
              <a:t>Communication:</a:t>
            </a:r>
            <a:r>
              <a:rPr lang="en-US" sz="2000" dirty="0"/>
              <a:t> Participate in brief daily </a:t>
            </a:r>
            <a:r>
              <a:rPr lang="en-US" sz="2000" b="1" dirty="0"/>
              <a:t>Standups</a:t>
            </a:r>
            <a:r>
              <a:rPr lang="en-US" sz="2000" dirty="0"/>
              <a:t> (Agile) and conduct </a:t>
            </a:r>
            <a:r>
              <a:rPr lang="en-US" sz="2000" b="1" dirty="0"/>
              <a:t>Stakeholder Reviews</a:t>
            </a:r>
            <a:r>
              <a:rPr lang="en-US" sz="2000" dirty="0"/>
              <a:t> to present analysis, visualizations, and findings to business leaders.</a:t>
            </a:r>
            <a:br>
              <a:rPr lang="en-US" sz="2000" dirty="0"/>
            </a:b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F3030-C2B7-49C4-A308-9BB5A761C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032706"/>
              </p:ext>
            </p:extLst>
          </p:nvPr>
        </p:nvGraphicFramePr>
        <p:xfrm>
          <a:off x="914400" y="3617483"/>
          <a:ext cx="10363200" cy="2560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264427320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4267844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Category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Examples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5547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Programming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 (Pandas, Scikit-learn), </a:t>
                      </a: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08566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Databases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SQL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, Snowflake, Redshift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28224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Cloud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AWS, GCP, Microsoft Azure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6675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Visualization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Tableau, Power BI, Matplotlib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7836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Development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Jupyter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Notebooks, Git/GitHub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16805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259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7693-9949-49E7-A130-2A439DE4F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88" y="618517"/>
            <a:ext cx="10364451" cy="1596177"/>
          </a:xfrm>
        </p:spPr>
        <p:txBody>
          <a:bodyPr/>
          <a:lstStyle/>
          <a:p>
            <a:r>
              <a:rPr lang="en-US" b="1" dirty="0"/>
              <a:t>📚 References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F9583-6EEB-47FB-AD9D-46A459FF01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3705" y="2214694"/>
            <a:ext cx="10363826" cy="3424107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U.S. Bureau of Labor Statistics (BLS)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Interview Query Salary Report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Various academic/industry reports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946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204</TotalTime>
  <Words>741</Words>
  <Application>Microsoft Office PowerPoint</Application>
  <PresentationFormat>Widescreen</PresentationFormat>
  <Paragraphs>77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-apple-system</vt:lpstr>
      <vt:lpstr>Arial</vt:lpstr>
      <vt:lpstr>Calibri</vt:lpstr>
      <vt:lpstr>Google Sans Text</vt:lpstr>
      <vt:lpstr>Tw Cen MT</vt:lpstr>
      <vt:lpstr>Droplet</vt:lpstr>
      <vt:lpstr>Data scientist</vt:lpstr>
      <vt:lpstr>What they do</vt:lpstr>
      <vt:lpstr>Ed ucation &amp; Skills </vt:lpstr>
      <vt:lpstr>PowerPoint Presentation</vt:lpstr>
      <vt:lpstr>JOB OUTLOOK</vt:lpstr>
      <vt:lpstr>Coursework Connection</vt:lpstr>
      <vt:lpstr>Trend Chart</vt:lpstr>
      <vt:lpstr>Day-in-the-Life Data Prep: Spend significant time writing Python or SQL scripts for data cleaning and transformation (Data Wrangling). Modeling: Build, train, and test Machine Learning models and algorithms, followed by debugging and iteration. Communication: Participate in brief daily Standups (Agile) and conduct Stakeholder Reviews to present analysis, visualizations, and findings to business leaders. </vt:lpstr>
      <vt:lpstr>📚 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scientist</dc:title>
  <dc:creator>Gutierrez Adame, Peter</dc:creator>
  <cp:lastModifiedBy>Gutierrez Adame, Peter</cp:lastModifiedBy>
  <cp:revision>11</cp:revision>
  <dcterms:created xsi:type="dcterms:W3CDTF">2025-11-04T13:42:08Z</dcterms:created>
  <dcterms:modified xsi:type="dcterms:W3CDTF">2025-11-05T13:32:15Z</dcterms:modified>
</cp:coreProperties>
</file>